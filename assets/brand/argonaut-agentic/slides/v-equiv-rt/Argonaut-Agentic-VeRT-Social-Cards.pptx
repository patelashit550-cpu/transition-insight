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 caption (copy.md v2, card a):
UBI may work like a reverse VAT (value-added tax). VAT is a payment to the commons for processing. V≡RT is a transfer back when the processing, energy and cost are avoided.
Source PNG: social/vert-a-vert-reverse-vat-1600x900.png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 caption (copy.md v2, card b):
IoT factors using the ISO 20022 standard send information on heart rate and motion and location to confirm you're walking or riding - that streams you income. Walking offsets the use of pharmacology. You keep the autonomy to drive.
Source PNG: social/vert-b-walking-streams-income-1600x900.png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 caption (copy.md v2, card c):
Eating vegetables instead of refined carbohydrates or heavily processed foods offsets costs the commons would otherwise carry. VAT applies to processing; V≡RT credits its absence.
Source PNG: social/vert-c-carb-no-credit-1600x900.png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 caption (copy.md v2, card d):
It should self-fund since consumption of organic and non-pharma product at scale would reduce public entitlement, transportation etc. expenditures. You pay in kind, an oracle sets the equivalent price against what it displaces (pharma, fossil fuel), and the income is streamed back in stablecoin. Only possible once stablecoins really scale.
Source PNG: social/vert-d-self-fund-1600x900.png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A_DARK">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213360" y="213360"/>
            <a:ext cx="11765280" cy="6431280"/>
          </a:xfrm>
          <a:prstGeom prst="rect">
            <a:avLst/>
          </a:prstGeom>
          <a:solidFill>
            <a:srgbClr val="050505">
              <a:alpha val="0"/>
            </a:srgbClr>
          </a:solidFill>
          <a:ln w="9525">
            <a:solidFill>
              <a:srgbClr val="292929"/>
            </a:solidFill>
            <a:prstDash val="solid"/>
          </a:ln>
        </p:spPr>
      </p:sp>
      <p:sp>
        <p:nvSpPr>
          <p:cNvPr id="3" name="Shape 1"/>
          <p:cNvSpPr/>
          <p:nvPr/>
        </p:nvSpPr>
        <p:spPr>
          <a:xfrm>
            <a:off x="838200" y="5745480"/>
            <a:ext cx="10515600" cy="0"/>
          </a:xfrm>
          <a:prstGeom prst="line">
            <a:avLst/>
          </a:prstGeom>
          <a:noFill/>
          <a:ln w="9525">
            <a:solidFill>
              <a:srgbClr val="10B981">
                <a:alpha val="70000"/>
              </a:srgbClr>
            </a:solidFill>
            <a:prstDash val="solid"/>
          </a:ln>
        </p:spPr>
      </p:sp>
      <p:pic>
        <p:nvPicPr>
          <p:cNvPr id="4" name="Image 0" descr="/workspace/slides/argonaut-agentic-2j22GJ/assets/footer-lockup.png">    </p:cNvPr>
          <p:cNvPicPr>
            <a:picLocks noChangeAspect="1"/>
          </p:cNvPicPr>
          <p:nvPr/>
        </p:nvPicPr>
        <p:blipFill>
          <a:blip r:embed="rId1"/>
          <a:stretch>
            <a:fillRect/>
          </a:stretch>
        </p:blipFill>
        <p:spPr>
          <a:xfrm>
            <a:off x="838200" y="6004560"/>
            <a:ext cx="1539240" cy="304800"/>
          </a:xfrm>
          <a:prstGeom prst="rect">
            <a:avLst/>
          </a:prstGeom>
        </p:spPr>
      </p:pic>
      <p:pic>
        <p:nvPicPr>
          <p:cNvPr id="5" name="Image 1" descr="/workspace/slides/argonaut-agentic-2j22GJ/assets/signature-ash.png">    </p:cNvPr>
          <p:cNvPicPr>
            <a:picLocks noChangeAspect="1"/>
          </p:cNvPicPr>
          <p:nvPr/>
        </p:nvPicPr>
        <p:blipFill>
          <a:blip r:embed="rId2"/>
          <a:stretch>
            <a:fillRect/>
          </a:stretch>
        </p:blipFill>
        <p:spPr>
          <a:xfrm>
            <a:off x="10347960" y="5958840"/>
            <a:ext cx="1005840" cy="35052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A_BARE">
    <p:bg>
      <p:bgPr>
        <a:solidFill>
          <a:srgbClr val="050505"/>
        </a:solidFill>
      </p:bgPr>
    </p:bg>
    <p:spTree>
      <p:nvGrpSpPr>
        <p:cNvPr id="1" name=""/>
        <p:cNvGrpSpPr/>
        <p:nvPr/>
      </p:nvGrpSpPr>
      <p:grpSpPr>
        <a:xfrm>
          <a:off x="0" y="0"/>
          <a:ext cx="0" cy="0"/>
          <a:chOff x="0" y="0"/>
          <a:chExt cx="0" cy="0"/>
        </a:xfrm>
      </p:grpSpPr>
      <p:sp>
        <p:nvSpPr>
          <p:cNvPr id="2" name="Shape 0"/>
          <p:cNvSpPr/>
          <p:nvPr/>
        </p:nvSpPr>
        <p:spPr>
          <a:xfrm>
            <a:off x="213360" y="213360"/>
            <a:ext cx="11765280" cy="6431280"/>
          </a:xfrm>
          <a:prstGeom prst="rect">
            <a:avLst/>
          </a:prstGeom>
          <a:solidFill>
            <a:srgbClr val="050505">
              <a:alpha val="0"/>
            </a:srgbClr>
          </a:solidFill>
          <a:ln w="9525">
            <a:solidFill>
              <a:srgbClr val="292929"/>
            </a:solidFill>
            <a:prstDash val="solid"/>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workspace/slides/argonaut-agentic-2j22GJ/assets/vert-small-mark.png">    </p:cNvPr>
          <p:cNvPicPr>
            <a:picLocks noChangeAspect="1"/>
          </p:cNvPicPr>
          <p:nvPr/>
        </p:nvPicPr>
        <p:blipFill>
          <a:blip r:embed="rId1"/>
          <a:stretch>
            <a:fillRect/>
          </a:stretch>
        </p:blipFill>
        <p:spPr>
          <a:xfrm>
            <a:off x="838200" y="731520"/>
            <a:ext cx="1036320" cy="453333"/>
          </a:xfrm>
          <a:prstGeom prst="rect">
            <a:avLst/>
          </a:prstGeom>
        </p:spPr>
      </p:pic>
      <p:sp>
        <p:nvSpPr>
          <p:cNvPr id="3" name="Text 0"/>
          <p:cNvSpPr/>
          <p:nvPr/>
        </p:nvSpPr>
        <p:spPr>
          <a:xfrm>
            <a:off x="838200" y="1798320"/>
            <a:ext cx="9144000" cy="1600200"/>
          </a:xfrm>
          <a:prstGeom prst="rect">
            <a:avLst/>
          </a:prstGeom>
          <a:noFill/>
          <a:ln/>
        </p:spPr>
        <p:txBody>
          <a:bodyPr wrap="square" lIns="0" tIns="0" rIns="0" bIns="0" rtlCol="0" anchor="t"/>
          <a:lstStyle/>
          <a:p>
            <a:pPr indent="0" marL="0">
              <a:lnSpc>
                <a:spcPct val="92000"/>
              </a:lnSpc>
              <a:buNone/>
            </a:pPr>
            <a:r>
              <a:rPr lang="en-US" sz="5520" b="1" spc="-150" kern="0" dirty="0">
                <a:solidFill>
                  <a:srgbClr val="FFFFFF"/>
                </a:solidFill>
                <a:latin typeface="Inter" pitchFamily="34" charset="0"/>
                <a:ea typeface="Inter" pitchFamily="34" charset="-122"/>
                <a:cs typeface="Inter" pitchFamily="34" charset="-120"/>
              </a:rPr>
              <a:t>UBI may work like</a:t>
            </a:r>
            <a:endParaRPr lang="en-US" sz="5520" dirty="0"/>
          </a:p>
          <a:p>
            <a:pPr indent="0" marL="0">
              <a:lnSpc>
                <a:spcPct val="92000"/>
              </a:lnSpc>
              <a:buNone/>
            </a:pPr>
            <a:r>
              <a:rPr lang="en-US" sz="5520" b="1" spc="-150" kern="0" dirty="0">
                <a:solidFill>
                  <a:srgbClr val="FFFFFF"/>
                </a:solidFill>
                <a:latin typeface="Inter" pitchFamily="34" charset="0"/>
                <a:ea typeface="Inter" pitchFamily="34" charset="-122"/>
                <a:cs typeface="Inter" pitchFamily="34" charset="-120"/>
              </a:rPr>
              <a:t>a </a:t>
            </a:r>
            <a:r>
              <a:rPr lang="en-US" sz="5520" b="1" spc="-150" kern="0" dirty="0">
                <a:solidFill>
                  <a:srgbClr val="34D399"/>
                </a:solidFill>
                <a:latin typeface="Inter" pitchFamily="34" charset="0"/>
                <a:ea typeface="Inter" pitchFamily="34" charset="-122"/>
                <a:cs typeface="Inter" pitchFamily="34" charset="-120"/>
              </a:rPr>
              <a:t>reverse</a:t>
            </a:r>
            <a:r>
              <a:rPr lang="en-US" sz="5520" b="1" spc="-150" kern="0" dirty="0">
                <a:solidFill>
                  <a:srgbClr val="FFFFFF"/>
                </a:solidFill>
                <a:latin typeface="Inter" pitchFamily="34" charset="0"/>
                <a:ea typeface="Inter" pitchFamily="34" charset="-122"/>
                <a:cs typeface="Inter" pitchFamily="34" charset="-120"/>
              </a:rPr>
              <a:t> VAT.</a:t>
            </a:r>
            <a:endParaRPr lang="en-US" sz="5520" dirty="0"/>
          </a:p>
        </p:txBody>
      </p:sp>
      <p:sp>
        <p:nvSpPr>
          <p:cNvPr id="4" name="Text 1"/>
          <p:cNvSpPr/>
          <p:nvPr/>
        </p:nvSpPr>
        <p:spPr>
          <a:xfrm>
            <a:off x="838200" y="3581400"/>
            <a:ext cx="7467600" cy="1066800"/>
          </a:xfrm>
          <a:prstGeom prst="rect">
            <a:avLst/>
          </a:prstGeom>
          <a:noFill/>
          <a:ln/>
        </p:spPr>
        <p:txBody>
          <a:bodyPr wrap="square" lIns="0" tIns="0" rIns="0" bIns="0" rtlCol="0" anchor="t"/>
          <a:lstStyle/>
          <a:p>
            <a:pPr indent="0" marL="0">
              <a:lnSpc>
                <a:spcPct val="120000"/>
              </a:lnSpc>
              <a:buNone/>
            </a:pPr>
            <a:r>
              <a:rPr lang="en-US" sz="1860" dirty="0">
                <a:solidFill>
                  <a:srgbClr val="A1A1AA"/>
                </a:solidFill>
                <a:latin typeface="Inter" pitchFamily="34" charset="0"/>
                <a:ea typeface="Inter" pitchFamily="34" charset="-122"/>
                <a:cs typeface="Inter" pitchFamily="34" charset="-120"/>
              </a:rPr>
              <a:t>An agentic payment utility which reduces (processing) noise and energy through the domain, and encourages the consumption of raw/organic produce.</a:t>
            </a:r>
            <a:endParaRPr lang="en-US" sz="186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38200" y="792480"/>
            <a:ext cx="10515600" cy="198120"/>
          </a:xfrm>
          <a:prstGeom prst="rect">
            <a:avLst/>
          </a:prstGeom>
          <a:noFill/>
          <a:ln/>
        </p:spPr>
        <p:txBody>
          <a:bodyPr wrap="square" lIns="0" tIns="0" rIns="0" bIns="0" rtlCol="0" anchor="t"/>
          <a:lstStyle/>
          <a:p>
            <a:pPr indent="0" marL="0">
              <a:buNone/>
            </a:pPr>
            <a:r>
              <a:rPr lang="en-US" sz="1020" b="1" spc="340" kern="0" dirty="0">
                <a:solidFill>
                  <a:srgbClr val="34D399"/>
                </a:solidFill>
                <a:latin typeface="Inter" pitchFamily="34" charset="0"/>
                <a:ea typeface="Inter" pitchFamily="34" charset="-122"/>
                <a:cs typeface="Inter" pitchFamily="34" charset="-120"/>
              </a:rPr>
              <a:t>V≡RT</a:t>
            </a:r>
            <a:r>
              <a:rPr lang="en-US" sz="1020" b="1" spc="340" kern="0" dirty="0">
                <a:solidFill>
                  <a:srgbClr val="34D399"/>
                </a:solidFill>
                <a:latin typeface="Inter" pitchFamily="34" charset="0"/>
                <a:ea typeface="Inter" pitchFamily="34" charset="-122"/>
                <a:cs typeface="Inter" pitchFamily="34" charset="-120"/>
              </a:rPr>
              <a:t>  /  IOT  /  ISO 20022</a:t>
            </a:r>
            <a:endParaRPr lang="en-US" sz="1020" dirty="0"/>
          </a:p>
        </p:txBody>
      </p:sp>
      <p:sp>
        <p:nvSpPr>
          <p:cNvPr id="3" name="Text 1"/>
          <p:cNvSpPr/>
          <p:nvPr/>
        </p:nvSpPr>
        <p:spPr>
          <a:xfrm>
            <a:off x="838200" y="1219200"/>
            <a:ext cx="10515600" cy="1600200"/>
          </a:xfrm>
          <a:prstGeom prst="rect">
            <a:avLst/>
          </a:prstGeom>
          <a:noFill/>
          <a:ln/>
        </p:spPr>
        <p:txBody>
          <a:bodyPr wrap="square" lIns="0" tIns="0" rIns="0" bIns="0" rtlCol="0" anchor="t"/>
          <a:lstStyle/>
          <a:p>
            <a:pPr indent="0" marL="0">
              <a:lnSpc>
                <a:spcPct val="92000"/>
              </a:lnSpc>
              <a:buNone/>
            </a:pPr>
            <a:r>
              <a:rPr lang="en-US" sz="5520" b="1" spc="-100" kern="0" dirty="0">
                <a:solidFill>
                  <a:srgbClr val="FFFFFF"/>
                </a:solidFill>
                <a:latin typeface="Inter" pitchFamily="34" charset="0"/>
                <a:ea typeface="Inter" pitchFamily="34" charset="-122"/>
                <a:cs typeface="Inter" pitchFamily="34" charset="-120"/>
              </a:rPr>
              <a:t>You're walking.</a:t>
            </a:r>
            <a:endParaRPr lang="en-US" sz="5520" dirty="0"/>
          </a:p>
          <a:p>
            <a:pPr indent="0" marL="0">
              <a:lnSpc>
                <a:spcPct val="92000"/>
              </a:lnSpc>
              <a:buNone/>
            </a:pPr>
            <a:r>
              <a:rPr lang="en-US" sz="5520" spc="-100" kern="0" dirty="0">
                <a:solidFill>
                  <a:srgbClr val="A1A1AA"/>
                </a:solidFill>
                <a:latin typeface="Inter" pitchFamily="34" charset="0"/>
                <a:ea typeface="Inter" pitchFamily="34" charset="-122"/>
                <a:cs typeface="Inter" pitchFamily="34" charset="-120"/>
              </a:rPr>
              <a:t>That streams you income.</a:t>
            </a:r>
            <a:endParaRPr lang="en-US" sz="5520" dirty="0"/>
          </a:p>
        </p:txBody>
      </p:sp>
      <p:sp>
        <p:nvSpPr>
          <p:cNvPr id="4" name="Shape 2"/>
          <p:cNvSpPr/>
          <p:nvPr/>
        </p:nvSpPr>
        <p:spPr>
          <a:xfrm>
            <a:off x="838200" y="3078480"/>
            <a:ext cx="5440680" cy="640080"/>
          </a:xfrm>
          <a:custGeom>
            <a:avLst/>
            <a:gdLst/>
            <a:ahLst/>
            <a:cxnLst/>
            <a:rect l="l" t="t" r="r" b="b"/>
            <a:pathLst>
              <a:path w="5440680" h="640080">
                <a:moveTo>
                  <a:pt x="0" y="352044"/>
                </a:moveTo>
                <a:lnTo>
                  <a:pt x="480060" y="352044"/>
                </a:lnTo>
                <a:lnTo>
                  <a:pt x="541020" y="275844"/>
                </a:lnTo>
                <a:lnTo>
                  <a:pt x="601980" y="352044"/>
                </a:lnTo>
                <a:lnTo>
                  <a:pt x="678180" y="352044"/>
                </a:lnTo>
                <a:lnTo>
                  <a:pt x="731520" y="512064"/>
                </a:lnTo>
                <a:lnTo>
                  <a:pt x="822960" y="32004"/>
                </a:lnTo>
                <a:lnTo>
                  <a:pt x="914400" y="428244"/>
                </a:lnTo>
                <a:lnTo>
                  <a:pt x="975360" y="352044"/>
                </a:lnTo>
                <a:lnTo>
                  <a:pt x="1082040" y="352044"/>
                </a:lnTo>
                <a:lnTo>
                  <a:pt x="1158240" y="245364"/>
                </a:lnTo>
                <a:lnTo>
                  <a:pt x="1249680" y="352044"/>
                </a:lnTo>
                <a:lnTo>
                  <a:pt x="1844040" y="352044"/>
                </a:lnTo>
                <a:lnTo>
                  <a:pt x="1905000" y="275844"/>
                </a:lnTo>
                <a:lnTo>
                  <a:pt x="1965960" y="352044"/>
                </a:lnTo>
                <a:lnTo>
                  <a:pt x="2042160" y="352044"/>
                </a:lnTo>
                <a:lnTo>
                  <a:pt x="2095500" y="512064"/>
                </a:lnTo>
                <a:lnTo>
                  <a:pt x="2186940" y="32004"/>
                </a:lnTo>
                <a:lnTo>
                  <a:pt x="2278380" y="428244"/>
                </a:lnTo>
                <a:lnTo>
                  <a:pt x="2339340" y="352044"/>
                </a:lnTo>
                <a:lnTo>
                  <a:pt x="2446020" y="352044"/>
                </a:lnTo>
                <a:lnTo>
                  <a:pt x="2522220" y="245364"/>
                </a:lnTo>
                <a:lnTo>
                  <a:pt x="2613660" y="352044"/>
                </a:lnTo>
                <a:lnTo>
                  <a:pt x="3215640" y="352044"/>
                </a:lnTo>
                <a:lnTo>
                  <a:pt x="3276600" y="275844"/>
                </a:lnTo>
                <a:lnTo>
                  <a:pt x="3337560" y="352044"/>
                </a:lnTo>
                <a:lnTo>
                  <a:pt x="3413760" y="352044"/>
                </a:lnTo>
                <a:lnTo>
                  <a:pt x="3467100" y="512064"/>
                </a:lnTo>
                <a:lnTo>
                  <a:pt x="3558540" y="32004"/>
                </a:lnTo>
                <a:lnTo>
                  <a:pt x="3649980" y="428244"/>
                </a:lnTo>
                <a:lnTo>
                  <a:pt x="3710940" y="352044"/>
                </a:lnTo>
                <a:lnTo>
                  <a:pt x="3817620" y="352044"/>
                </a:lnTo>
                <a:lnTo>
                  <a:pt x="3893820" y="245364"/>
                </a:lnTo>
                <a:lnTo>
                  <a:pt x="3985260" y="352044"/>
                </a:lnTo>
                <a:lnTo>
                  <a:pt x="4579620" y="352044"/>
                </a:lnTo>
                <a:lnTo>
                  <a:pt x="4640580" y="275844"/>
                </a:lnTo>
                <a:lnTo>
                  <a:pt x="4701540" y="352044"/>
                </a:lnTo>
                <a:lnTo>
                  <a:pt x="4777740" y="352044"/>
                </a:lnTo>
                <a:lnTo>
                  <a:pt x="4831080" y="512064"/>
                </a:lnTo>
                <a:lnTo>
                  <a:pt x="4922520" y="32004"/>
                </a:lnTo>
                <a:lnTo>
                  <a:pt x="5013960" y="428244"/>
                </a:lnTo>
                <a:lnTo>
                  <a:pt x="5074920" y="352044"/>
                </a:lnTo>
                <a:lnTo>
                  <a:pt x="5181600" y="352044"/>
                </a:lnTo>
                <a:lnTo>
                  <a:pt x="5257800" y="245364"/>
                </a:lnTo>
                <a:lnTo>
                  <a:pt x="5349240" y="352044"/>
                </a:lnTo>
              </a:path>
            </a:pathLst>
          </a:custGeom>
          <a:solidFill>
            <a:srgbClr val="050505">
              <a:alpha val="0"/>
            </a:srgbClr>
          </a:solidFill>
          <a:ln w="15240">
            <a:solidFill>
              <a:srgbClr val="10B981"/>
            </a:solidFill>
            <a:prstDash val="solid"/>
          </a:ln>
        </p:spPr>
      </p:sp>
      <p:sp>
        <p:nvSpPr>
          <p:cNvPr id="5" name="Shape 3"/>
          <p:cNvSpPr/>
          <p:nvPr/>
        </p:nvSpPr>
        <p:spPr>
          <a:xfrm>
            <a:off x="6781800" y="3430524"/>
            <a:ext cx="4526280" cy="0"/>
          </a:xfrm>
          <a:prstGeom prst="line">
            <a:avLst/>
          </a:prstGeom>
          <a:noFill/>
          <a:ln w="15240">
            <a:solidFill>
              <a:srgbClr val="34D399"/>
            </a:solidFill>
            <a:prstDash val="sysDot"/>
            <a:tailEnd type="arrow"/>
          </a:ln>
        </p:spPr>
      </p:sp>
      <p:sp>
        <p:nvSpPr>
          <p:cNvPr id="6" name="Text 4"/>
          <p:cNvSpPr/>
          <p:nvPr/>
        </p:nvSpPr>
        <p:spPr>
          <a:xfrm>
            <a:off x="838200" y="3901440"/>
            <a:ext cx="10515600" cy="213360"/>
          </a:xfrm>
          <a:prstGeom prst="rect">
            <a:avLst/>
          </a:prstGeom>
          <a:noFill/>
          <a:ln/>
        </p:spPr>
        <p:txBody>
          <a:bodyPr wrap="square" lIns="0" tIns="0" rIns="0" bIns="0" rtlCol="0" anchor="t"/>
          <a:lstStyle/>
          <a:p>
            <a:pPr indent="0" marL="0">
              <a:buNone/>
            </a:pPr>
            <a:r>
              <a:rPr lang="en-US" sz="1020" b="1" spc="220" kern="0" dirty="0">
                <a:solidFill>
                  <a:srgbClr val="34D399"/>
                </a:solidFill>
                <a:latin typeface="Inter" pitchFamily="34" charset="0"/>
                <a:ea typeface="Inter" pitchFamily="34" charset="-122"/>
                <a:cs typeface="Inter" pitchFamily="34" charset="-120"/>
              </a:rPr>
              <a:t>♥ 112 </a:t>
            </a:r>
            <a:r>
              <a:rPr lang="en-US" sz="1020" spc="220" kern="0" dirty="0">
                <a:solidFill>
                  <a:srgbClr val="A1A1AA"/>
                </a:solidFill>
                <a:latin typeface="Inter" pitchFamily="34" charset="0"/>
                <a:ea typeface="Inter" pitchFamily="34" charset="-122"/>
                <a:cs typeface="Inter" pitchFamily="34" charset="-120"/>
              </a:rPr>
              <a:t>BPM</a:t>
            </a:r>
            <a:r>
              <a:rPr lang="en-US" sz="1020" spc="220" kern="0" dirty="0">
                <a:solidFill>
                  <a:srgbClr val="A1A1AA"/>
                </a:solidFill>
                <a:latin typeface="Inter" pitchFamily="34" charset="0"/>
                <a:ea typeface="Inter" pitchFamily="34" charset="-122"/>
                <a:cs typeface="Inter" pitchFamily="34" charset="-120"/>
              </a:rPr>
              <a:t>   ·   </a:t>
            </a:r>
            <a:r>
              <a:rPr lang="en-US" sz="1020" b="1" spc="220" kern="0" dirty="0">
                <a:solidFill>
                  <a:srgbClr val="34D399"/>
                </a:solidFill>
                <a:latin typeface="Inter" pitchFamily="34" charset="0"/>
                <a:ea typeface="Inter" pitchFamily="34" charset="-122"/>
                <a:cs typeface="Inter" pitchFamily="34" charset="-120"/>
              </a:rPr>
              <a:t>5.4 </a:t>
            </a:r>
            <a:r>
              <a:rPr lang="en-US" sz="1020" spc="220" kern="0" dirty="0">
                <a:solidFill>
                  <a:srgbClr val="A1A1AA"/>
                </a:solidFill>
                <a:latin typeface="Inter" pitchFamily="34" charset="0"/>
                <a:ea typeface="Inter" pitchFamily="34" charset="-122"/>
                <a:cs typeface="Inter" pitchFamily="34" charset="-120"/>
              </a:rPr>
              <a:t>KM/H</a:t>
            </a:r>
            <a:r>
              <a:rPr lang="en-US" sz="1020" spc="220" kern="0" dirty="0">
                <a:solidFill>
                  <a:srgbClr val="A1A1AA"/>
                </a:solidFill>
                <a:latin typeface="Inter" pitchFamily="34" charset="0"/>
                <a:ea typeface="Inter" pitchFamily="34" charset="-122"/>
                <a:cs typeface="Inter" pitchFamily="34" charset="-120"/>
              </a:rPr>
              <a:t>   ·   </a:t>
            </a:r>
            <a:r>
              <a:rPr lang="en-US" sz="1020" b="1" spc="220" kern="0" dirty="0">
                <a:solidFill>
                  <a:srgbClr val="34D399"/>
                </a:solidFill>
                <a:latin typeface="Inter" pitchFamily="34" charset="0"/>
                <a:ea typeface="Inter" pitchFamily="34" charset="-122"/>
                <a:cs typeface="Inter" pitchFamily="34" charset="-120"/>
              </a:rPr>
              <a:t>GPS </a:t>
            </a:r>
            <a:r>
              <a:rPr lang="en-US" sz="1020" spc="220" kern="0" dirty="0">
                <a:solidFill>
                  <a:srgbClr val="A1A1AA"/>
                </a:solidFill>
                <a:latin typeface="Inter" pitchFamily="34" charset="0"/>
                <a:ea typeface="Inter" pitchFamily="34" charset="-122"/>
                <a:cs typeface="Inter" pitchFamily="34" charset="-120"/>
              </a:rPr>
              <a:t>✓</a:t>
            </a:r>
            <a:r>
              <a:rPr lang="en-US" sz="1020" spc="220" kern="0" dirty="0">
                <a:solidFill>
                  <a:srgbClr val="A1A1AA"/>
                </a:solidFill>
                <a:latin typeface="Inter" pitchFamily="34" charset="0"/>
                <a:ea typeface="Inter" pitchFamily="34" charset="-122"/>
                <a:cs typeface="Inter" pitchFamily="34" charset="-120"/>
              </a:rPr>
              <a:t>   ·   </a:t>
            </a:r>
            <a:r>
              <a:rPr lang="en-US" sz="1020" b="1" spc="220" kern="0" dirty="0">
                <a:solidFill>
                  <a:srgbClr val="34D399"/>
                </a:solidFill>
                <a:latin typeface="Inter" pitchFamily="34" charset="0"/>
                <a:ea typeface="Inter" pitchFamily="34" charset="-122"/>
                <a:cs typeface="Inter" pitchFamily="34" charset="-120"/>
              </a:rPr>
              <a:t>ISO 20022 </a:t>
            </a:r>
            <a:r>
              <a:rPr lang="en-US" sz="1020" spc="80" kern="0" dirty="0">
                <a:solidFill>
                  <a:srgbClr val="A1A1AA"/>
                </a:solidFill>
                <a:latin typeface="Inter" pitchFamily="34" charset="0"/>
                <a:ea typeface="Inter" pitchFamily="34" charset="-122"/>
                <a:cs typeface="Inter" pitchFamily="34" charset="-120"/>
              </a:rPr>
              <a:t>pacs.008</a:t>
            </a:r>
            <a:endParaRPr lang="en-US" sz="1020" dirty="0"/>
          </a:p>
        </p:txBody>
      </p:sp>
      <p:sp>
        <p:nvSpPr>
          <p:cNvPr id="7" name="Text 5"/>
          <p:cNvSpPr/>
          <p:nvPr/>
        </p:nvSpPr>
        <p:spPr>
          <a:xfrm>
            <a:off x="838200" y="4236720"/>
            <a:ext cx="8534400" cy="762000"/>
          </a:xfrm>
          <a:prstGeom prst="rect">
            <a:avLst/>
          </a:prstGeom>
          <a:noFill/>
          <a:ln/>
        </p:spPr>
        <p:txBody>
          <a:bodyPr wrap="square" lIns="0" tIns="0" rIns="0" bIns="0" rtlCol="0" anchor="t"/>
          <a:lstStyle/>
          <a:p>
            <a:pPr indent="0" marL="0">
              <a:lnSpc>
                <a:spcPct val="120000"/>
              </a:lnSpc>
              <a:buNone/>
            </a:pPr>
            <a:r>
              <a:rPr lang="en-US" sz="1620" dirty="0">
                <a:solidFill>
                  <a:srgbClr val="A1A1AA"/>
                </a:solidFill>
                <a:latin typeface="Inter" pitchFamily="34" charset="0"/>
                <a:ea typeface="Inter" pitchFamily="34" charset="-122"/>
                <a:cs typeface="Inter" pitchFamily="34" charset="-120"/>
              </a:rPr>
              <a:t>IoT factors using the ISO 20022 standard send heart rate, motion and location to confirm you're walking or riding. You keep the autonomy to drive.</a:t>
            </a:r>
            <a:endParaRPr lang="en-US" sz="16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38200" y="792480"/>
            <a:ext cx="10515600" cy="198120"/>
          </a:xfrm>
          <a:prstGeom prst="rect">
            <a:avLst/>
          </a:prstGeom>
          <a:noFill/>
          <a:ln/>
        </p:spPr>
        <p:txBody>
          <a:bodyPr wrap="square" lIns="0" tIns="0" rIns="0" bIns="0" rtlCol="0" anchor="t"/>
          <a:lstStyle/>
          <a:p>
            <a:pPr indent="0" marL="0">
              <a:buNone/>
            </a:pPr>
            <a:r>
              <a:rPr lang="en-US" sz="1020" b="1" spc="340" kern="0" dirty="0">
                <a:solidFill>
                  <a:srgbClr val="34D399"/>
                </a:solidFill>
                <a:latin typeface="Inter" pitchFamily="34" charset="0"/>
                <a:ea typeface="Inter" pitchFamily="34" charset="-122"/>
                <a:cs typeface="Inter" pitchFamily="34" charset="-120"/>
              </a:rPr>
              <a:t>V≡RT</a:t>
            </a:r>
            <a:r>
              <a:rPr lang="en-US" sz="1020" b="1" spc="340" kern="0" dirty="0">
                <a:solidFill>
                  <a:srgbClr val="34D399"/>
                </a:solidFill>
                <a:latin typeface="Inter" pitchFamily="34" charset="0"/>
                <a:ea typeface="Inter" pitchFamily="34" charset="-122"/>
                <a:cs typeface="Inter" pitchFamily="34" charset="-120"/>
              </a:rPr>
              <a:t>  /  FOOD</a:t>
            </a:r>
            <a:endParaRPr lang="en-US" sz="1020" dirty="0"/>
          </a:p>
        </p:txBody>
      </p:sp>
      <p:sp>
        <p:nvSpPr>
          <p:cNvPr id="3" name="Text 1"/>
          <p:cNvSpPr/>
          <p:nvPr/>
        </p:nvSpPr>
        <p:spPr>
          <a:xfrm>
            <a:off x="838200" y="1219200"/>
            <a:ext cx="10515600" cy="1524000"/>
          </a:xfrm>
          <a:prstGeom prst="rect">
            <a:avLst/>
          </a:prstGeom>
          <a:noFill/>
          <a:ln/>
        </p:spPr>
        <p:txBody>
          <a:bodyPr wrap="square" lIns="0" tIns="0" rIns="0" bIns="0" rtlCol="0" anchor="t"/>
          <a:lstStyle/>
          <a:p>
            <a:pPr indent="0" marL="0">
              <a:lnSpc>
                <a:spcPct val="92000"/>
              </a:lnSpc>
              <a:buNone/>
            </a:pPr>
            <a:r>
              <a:rPr lang="en-US" sz="5280" b="1" spc="-100" kern="0" dirty="0">
                <a:solidFill>
                  <a:srgbClr val="FFFFFF"/>
                </a:solidFill>
                <a:latin typeface="Inter" pitchFamily="34" charset="0"/>
                <a:ea typeface="Inter" pitchFamily="34" charset="-122"/>
                <a:cs typeface="Inter" pitchFamily="34" charset="-120"/>
              </a:rPr>
              <a:t>Raw and organic:</a:t>
            </a:r>
            <a:endParaRPr lang="en-US" sz="5280" dirty="0"/>
          </a:p>
          <a:p>
            <a:pPr indent="0" marL="0">
              <a:lnSpc>
                <a:spcPct val="92000"/>
              </a:lnSpc>
              <a:buNone/>
            </a:pPr>
            <a:r>
              <a:rPr lang="en-US" sz="5280" spc="-100" kern="0" dirty="0">
                <a:solidFill>
                  <a:srgbClr val="A1A1AA"/>
                </a:solidFill>
                <a:latin typeface="Inter" pitchFamily="34" charset="0"/>
                <a:ea typeface="Inter" pitchFamily="34" charset="-122"/>
                <a:cs typeface="Inter" pitchFamily="34" charset="-120"/>
              </a:rPr>
              <a:t>a credit, not a tax.</a:t>
            </a:r>
            <a:endParaRPr lang="en-US" sz="5280" dirty="0"/>
          </a:p>
        </p:txBody>
      </p:sp>
      <p:sp>
        <p:nvSpPr>
          <p:cNvPr id="4" name="Text 2"/>
          <p:cNvSpPr/>
          <p:nvPr/>
        </p:nvSpPr>
        <p:spPr>
          <a:xfrm>
            <a:off x="838200" y="2926080"/>
            <a:ext cx="8534400" cy="685800"/>
          </a:xfrm>
          <a:prstGeom prst="rect">
            <a:avLst/>
          </a:prstGeom>
          <a:noFill/>
          <a:ln/>
        </p:spPr>
        <p:txBody>
          <a:bodyPr wrap="square" lIns="0" tIns="0" rIns="0" bIns="0" rtlCol="0" anchor="t"/>
          <a:lstStyle/>
          <a:p>
            <a:pPr indent="0" marL="0">
              <a:lnSpc>
                <a:spcPct val="120000"/>
              </a:lnSpc>
              <a:buNone/>
            </a:pPr>
            <a:r>
              <a:rPr lang="en-US" sz="1680" dirty="0">
                <a:solidFill>
                  <a:srgbClr val="A1A1AA"/>
                </a:solidFill>
                <a:latin typeface="Inter" pitchFamily="34" charset="0"/>
                <a:ea typeface="Inter" pitchFamily="34" charset="-122"/>
                <a:cs typeface="Inter" pitchFamily="34" charset="-120"/>
              </a:rPr>
              <a:t>Eating vegetables instead of refined carbohydrates or heavily processed foods offsets costs the commons would otherwise carry.</a:t>
            </a:r>
            <a:endParaRPr lang="en-US" sz="1680" dirty="0"/>
          </a:p>
        </p:txBody>
      </p:sp>
      <p:sp>
        <p:nvSpPr>
          <p:cNvPr id="5" name="Text 3"/>
          <p:cNvSpPr/>
          <p:nvPr/>
        </p:nvSpPr>
        <p:spPr>
          <a:xfrm>
            <a:off x="838200" y="3832860"/>
            <a:ext cx="5166360" cy="1539240"/>
          </a:xfrm>
          <a:prstGeom prst="roundRect">
            <a:avLst>
              <a:gd name="adj" fmla="val 2376"/>
            </a:avLst>
          </a:prstGeom>
          <a:solidFill>
            <a:srgbClr val="0D0D0D"/>
          </a:solidFill>
          <a:ln w="9525">
            <a:solidFill>
              <a:srgbClr val="292929"/>
            </a:solidFill>
          </a:ln>
        </p:spPr>
        <p:txBody>
          <a:bodyPr wrap="square" lIns="228600" tIns="182880" rIns="228600" bIns="167640" rtlCol="0" anchor="t"/>
          <a:lstStyle/>
          <a:p>
            <a:pPr indent="0" marL="0">
              <a:buNone/>
            </a:pPr>
            <a:r>
              <a:rPr lang="en-US" sz="960" b="1" spc="220" kern="0" dirty="0">
                <a:solidFill>
                  <a:srgbClr val="A1A1AA"/>
                </a:solidFill>
                <a:latin typeface="Inter" pitchFamily="34" charset="0"/>
                <a:ea typeface="Inter" pitchFamily="34" charset="-122"/>
                <a:cs typeface="Inter" pitchFamily="34" charset="-120"/>
              </a:rPr>
              <a:t>HEAVILY PROCESSED</a:t>
            </a:r>
            <a:endParaRPr lang="en-US" sz="960" dirty="0"/>
          </a:p>
          <a:p>
            <a:pPr indent="0" marL="0">
              <a:spcBef>
                <a:spcPts val="600"/>
              </a:spcBef>
              <a:buNone/>
            </a:pPr>
            <a:r>
              <a:rPr lang="en-US" sz="2400" b="1" dirty="0">
                <a:solidFill>
                  <a:srgbClr val="D4D4D8"/>
                </a:solidFill>
                <a:latin typeface="Inter" pitchFamily="34" charset="0"/>
                <a:ea typeface="Inter" pitchFamily="34" charset="-122"/>
                <a:cs typeface="Inter" pitchFamily="34" charset="-120"/>
              </a:rPr>
              <a:t>VAT</a:t>
            </a:r>
            <a:endParaRPr lang="en-US" sz="960" dirty="0"/>
          </a:p>
          <a:p>
            <a:pPr indent="0" marL="0">
              <a:lnSpc>
                <a:spcPct val="120000"/>
              </a:lnSpc>
              <a:spcBef>
                <a:spcPts val="600"/>
              </a:spcBef>
              <a:buNone/>
            </a:pPr>
            <a:r>
              <a:rPr lang="en-US" sz="1260" dirty="0">
                <a:solidFill>
                  <a:srgbClr val="A1A1AA"/>
                </a:solidFill>
                <a:latin typeface="Inter" pitchFamily="34" charset="0"/>
                <a:ea typeface="Inter" pitchFamily="34" charset="-122"/>
                <a:cs typeface="Inter" pitchFamily="34" charset="-120"/>
              </a:rPr>
              <a:t>A payment to the commons for value added, meaning processing.</a:t>
            </a:r>
            <a:endParaRPr lang="en-US" sz="960" dirty="0"/>
          </a:p>
        </p:txBody>
      </p:sp>
      <p:sp>
        <p:nvSpPr>
          <p:cNvPr id="6" name="Text 4"/>
          <p:cNvSpPr/>
          <p:nvPr/>
        </p:nvSpPr>
        <p:spPr>
          <a:xfrm>
            <a:off x="6187440" y="3832860"/>
            <a:ext cx="5166360" cy="1539240"/>
          </a:xfrm>
          <a:prstGeom prst="roundRect">
            <a:avLst>
              <a:gd name="adj" fmla="val 2376"/>
            </a:avLst>
          </a:prstGeom>
          <a:solidFill>
            <a:srgbClr val="0D0D0D"/>
          </a:solidFill>
          <a:ln w="9525">
            <a:solidFill>
              <a:srgbClr val="10B981"/>
            </a:solidFill>
          </a:ln>
        </p:spPr>
        <p:txBody>
          <a:bodyPr wrap="square" lIns="228600" tIns="182880" rIns="228600" bIns="167640" rtlCol="0" anchor="t"/>
          <a:lstStyle/>
          <a:p>
            <a:pPr indent="0" marL="0">
              <a:buNone/>
            </a:pPr>
            <a:r>
              <a:rPr lang="en-US" sz="960" b="1" spc="220" kern="0" dirty="0">
                <a:solidFill>
                  <a:srgbClr val="34D399"/>
                </a:solidFill>
                <a:latin typeface="Inter" pitchFamily="34" charset="0"/>
                <a:ea typeface="Inter" pitchFamily="34" charset="-122"/>
                <a:cs typeface="Inter" pitchFamily="34" charset="-120"/>
              </a:rPr>
              <a:t>RAW / ORGANIC</a:t>
            </a:r>
            <a:endParaRPr lang="en-US" sz="960" dirty="0"/>
          </a:p>
          <a:p>
            <a:pPr indent="0" marL="0">
              <a:spcBef>
                <a:spcPts val="600"/>
              </a:spcBef>
              <a:buNone/>
            </a:pPr>
            <a:r>
              <a:rPr lang="en-US" sz="2400" b="1" dirty="0">
                <a:solidFill>
                  <a:srgbClr val="FFFFFF"/>
                </a:solidFill>
                <a:latin typeface="Inter" pitchFamily="34" charset="0"/>
                <a:ea typeface="Inter" pitchFamily="34" charset="-122"/>
                <a:cs typeface="Inter" pitchFamily="34" charset="-120"/>
              </a:rPr>
              <a:t>V≡RT</a:t>
            </a:r>
            <a:endParaRPr lang="en-US" sz="960" dirty="0"/>
          </a:p>
          <a:p>
            <a:pPr indent="0" marL="0">
              <a:lnSpc>
                <a:spcPct val="120000"/>
              </a:lnSpc>
              <a:spcBef>
                <a:spcPts val="600"/>
              </a:spcBef>
              <a:buNone/>
            </a:pPr>
            <a:r>
              <a:rPr lang="en-US" sz="1260" dirty="0">
                <a:solidFill>
                  <a:srgbClr val="A1A1AA"/>
                </a:solidFill>
                <a:latin typeface="Inter" pitchFamily="34" charset="0"/>
                <a:ea typeface="Inter" pitchFamily="34" charset="-122"/>
                <a:cs typeface="Inter" pitchFamily="34" charset="-120"/>
              </a:rPr>
              <a:t>A transfer back: the processing, energy and cost avoided.</a:t>
            </a:r>
            <a:endParaRPr lang="en-US" sz="9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38200" y="792480"/>
            <a:ext cx="10515600" cy="198120"/>
          </a:xfrm>
          <a:prstGeom prst="rect">
            <a:avLst/>
          </a:prstGeom>
          <a:noFill/>
          <a:ln/>
        </p:spPr>
        <p:txBody>
          <a:bodyPr wrap="square" lIns="0" tIns="0" rIns="0" bIns="0" rtlCol="0" anchor="t"/>
          <a:lstStyle/>
          <a:p>
            <a:pPr indent="0" marL="0">
              <a:buNone/>
            </a:pPr>
            <a:r>
              <a:rPr lang="en-US" sz="1020" b="1" spc="340" kern="0" dirty="0">
                <a:solidFill>
                  <a:srgbClr val="34D399"/>
                </a:solidFill>
                <a:latin typeface="Inter" pitchFamily="34" charset="0"/>
                <a:ea typeface="Inter" pitchFamily="34" charset="-122"/>
                <a:cs typeface="Inter" pitchFamily="34" charset="-120"/>
              </a:rPr>
              <a:t>V≡RT</a:t>
            </a:r>
            <a:r>
              <a:rPr lang="en-US" sz="1020" b="1" spc="340" kern="0" dirty="0">
                <a:solidFill>
                  <a:srgbClr val="34D399"/>
                </a:solidFill>
                <a:latin typeface="Inter" pitchFamily="34" charset="0"/>
                <a:ea typeface="Inter" pitchFamily="34" charset="-122"/>
                <a:cs typeface="Inter" pitchFamily="34" charset="-120"/>
              </a:rPr>
              <a:t>  /  HOW IT SELF-FUNDS</a:t>
            </a:r>
            <a:endParaRPr lang="en-US" sz="1020" dirty="0"/>
          </a:p>
        </p:txBody>
      </p:sp>
      <p:sp>
        <p:nvSpPr>
          <p:cNvPr id="3" name="Text 1"/>
          <p:cNvSpPr/>
          <p:nvPr/>
        </p:nvSpPr>
        <p:spPr>
          <a:xfrm>
            <a:off x="838200" y="1188720"/>
            <a:ext cx="10515600" cy="838200"/>
          </a:xfrm>
          <a:prstGeom prst="rect">
            <a:avLst/>
          </a:prstGeom>
          <a:noFill/>
          <a:ln/>
        </p:spPr>
        <p:txBody>
          <a:bodyPr wrap="square" lIns="0" tIns="0" rIns="0" bIns="0" rtlCol="0" anchor="t"/>
          <a:lstStyle/>
          <a:p>
            <a:pPr indent="0" marL="0">
              <a:buNone/>
            </a:pPr>
            <a:r>
              <a:rPr lang="en-US" sz="5040" b="1" spc="-150" kern="0" dirty="0">
                <a:solidFill>
                  <a:srgbClr val="FFFFFF"/>
                </a:solidFill>
                <a:latin typeface="Inter" pitchFamily="34" charset="0"/>
                <a:ea typeface="Inter" pitchFamily="34" charset="-122"/>
                <a:cs typeface="Inter" pitchFamily="34" charset="-120"/>
              </a:rPr>
              <a:t>Due consideration.</a:t>
            </a:r>
            <a:endParaRPr lang="en-US" sz="5040" dirty="0"/>
          </a:p>
        </p:txBody>
      </p:sp>
      <p:sp>
        <p:nvSpPr>
          <p:cNvPr id="4" name="Text 2"/>
          <p:cNvSpPr/>
          <p:nvPr/>
        </p:nvSpPr>
        <p:spPr>
          <a:xfrm>
            <a:off x="838200" y="2087880"/>
            <a:ext cx="8915400" cy="685800"/>
          </a:xfrm>
          <a:prstGeom prst="rect">
            <a:avLst/>
          </a:prstGeom>
          <a:noFill/>
          <a:ln/>
        </p:spPr>
        <p:txBody>
          <a:bodyPr wrap="square" lIns="0" tIns="0" rIns="0" bIns="0" rtlCol="0" anchor="t"/>
          <a:lstStyle/>
          <a:p>
            <a:pPr indent="0" marL="0">
              <a:lnSpc>
                <a:spcPct val="120000"/>
              </a:lnSpc>
              <a:buNone/>
            </a:pPr>
            <a:r>
              <a:rPr lang="en-US" sz="1620" dirty="0">
                <a:solidFill>
                  <a:srgbClr val="A1A1AA"/>
                </a:solidFill>
                <a:latin typeface="Inter" pitchFamily="34" charset="0"/>
                <a:ea typeface="Inter" pitchFamily="34" charset="-122"/>
                <a:cs typeface="Inter" pitchFamily="34" charset="-120"/>
              </a:rPr>
              <a:t>It should self-fund since consumption of organic and non-pharma product at scale would reduce public entitlement, transportation etc. expenditures.</a:t>
            </a:r>
            <a:endParaRPr lang="en-US" sz="1620" dirty="0"/>
          </a:p>
        </p:txBody>
      </p:sp>
      <p:sp>
        <p:nvSpPr>
          <p:cNvPr id="5" name="Text 3"/>
          <p:cNvSpPr/>
          <p:nvPr/>
        </p:nvSpPr>
        <p:spPr>
          <a:xfrm>
            <a:off x="838200" y="2956560"/>
            <a:ext cx="3147060" cy="1661160"/>
          </a:xfrm>
          <a:prstGeom prst="roundRect">
            <a:avLst>
              <a:gd name="adj" fmla="val 2202"/>
            </a:avLst>
          </a:prstGeom>
          <a:solidFill>
            <a:srgbClr val="0D0D0D"/>
          </a:solidFill>
          <a:ln w="9525">
            <a:solidFill>
              <a:srgbClr val="292929"/>
            </a:solidFill>
          </a:ln>
        </p:spPr>
        <p:txBody>
          <a:bodyPr wrap="square" lIns="213360" tIns="182880" rIns="213360" bIns="167640" rtlCol="0" anchor="t"/>
          <a:lstStyle/>
          <a:p>
            <a:pPr indent="0" marL="0">
              <a:buNone/>
            </a:pPr>
            <a:r>
              <a:rPr lang="en-US" sz="900" b="1" spc="220" kern="0" dirty="0">
                <a:solidFill>
                  <a:srgbClr val="34D399"/>
                </a:solidFill>
                <a:latin typeface="Inter" pitchFamily="34" charset="0"/>
                <a:ea typeface="Inter" pitchFamily="34" charset="-122"/>
                <a:cs typeface="Inter" pitchFamily="34" charset="-120"/>
              </a:rPr>
              <a:t>YOU</a:t>
            </a:r>
            <a:endParaRPr lang="en-US" sz="900" dirty="0"/>
          </a:p>
          <a:p>
            <a:pPr indent="0" marL="0">
              <a:spcBef>
                <a:spcPts val="600"/>
              </a:spcBef>
              <a:buNone/>
            </a:pPr>
            <a:r>
              <a:rPr lang="en-US" sz="2040" b="1" dirty="0">
                <a:solidFill>
                  <a:srgbClr val="FFFFFF"/>
                </a:solidFill>
                <a:latin typeface="Inter" pitchFamily="34" charset="0"/>
                <a:ea typeface="Inter" pitchFamily="34" charset="-122"/>
                <a:cs typeface="Inter" pitchFamily="34" charset="-120"/>
              </a:rPr>
              <a:t>Paid in kind</a:t>
            </a:r>
            <a:endParaRPr lang="en-US" sz="900" dirty="0"/>
          </a:p>
          <a:p>
            <a:pPr indent="0" marL="0">
              <a:lnSpc>
                <a:spcPct val="120000"/>
              </a:lnSpc>
              <a:spcBef>
                <a:spcPts val="600"/>
              </a:spcBef>
              <a:buNone/>
            </a:pPr>
            <a:r>
              <a:rPr lang="en-US" sz="1200" dirty="0">
                <a:solidFill>
                  <a:srgbClr val="A1A1AA"/>
                </a:solidFill>
                <a:latin typeface="Inter" pitchFamily="34" charset="0"/>
                <a:ea typeface="Inter" pitchFamily="34" charset="-122"/>
                <a:cs typeface="Inter" pitchFamily="34" charset="-120"/>
              </a:rPr>
              <a:t>Factored movement (walking, riding), or creative effort that generates value. Attested over ISO 20022.</a:t>
            </a:r>
            <a:endParaRPr lang="en-US" sz="900" dirty="0"/>
          </a:p>
        </p:txBody>
      </p:sp>
      <p:sp>
        <p:nvSpPr>
          <p:cNvPr id="6" name="Text 4"/>
          <p:cNvSpPr/>
          <p:nvPr/>
        </p:nvSpPr>
        <p:spPr>
          <a:xfrm>
            <a:off x="4518660" y="2956560"/>
            <a:ext cx="3147060" cy="1661160"/>
          </a:xfrm>
          <a:prstGeom prst="roundRect">
            <a:avLst>
              <a:gd name="adj" fmla="val 2202"/>
            </a:avLst>
          </a:prstGeom>
          <a:solidFill>
            <a:srgbClr val="0D0D0D"/>
          </a:solidFill>
          <a:ln w="9525">
            <a:solidFill>
              <a:srgbClr val="10B981"/>
            </a:solidFill>
          </a:ln>
        </p:spPr>
        <p:txBody>
          <a:bodyPr wrap="square" lIns="213360" tIns="182880" rIns="213360" bIns="167640" rtlCol="0" anchor="t"/>
          <a:lstStyle/>
          <a:p>
            <a:pPr indent="0" marL="0">
              <a:buNone/>
            </a:pPr>
            <a:r>
              <a:rPr lang="en-US" sz="900" b="1" spc="220" kern="0" dirty="0">
                <a:solidFill>
                  <a:srgbClr val="34D399"/>
                </a:solidFill>
                <a:latin typeface="Inter" pitchFamily="34" charset="0"/>
                <a:ea typeface="Inter" pitchFamily="34" charset="-122"/>
                <a:cs typeface="Inter" pitchFamily="34" charset="-120"/>
              </a:rPr>
              <a:t>ORACLE</a:t>
            </a:r>
            <a:endParaRPr lang="en-US" sz="900" dirty="0"/>
          </a:p>
          <a:p>
            <a:pPr indent="0" marL="0">
              <a:spcBef>
                <a:spcPts val="600"/>
              </a:spcBef>
              <a:buNone/>
            </a:pPr>
            <a:r>
              <a:rPr lang="en-US" sz="2040" b="1" dirty="0">
                <a:solidFill>
                  <a:srgbClr val="FFFFFF"/>
                </a:solidFill>
                <a:latin typeface="Inter" pitchFamily="34" charset="0"/>
                <a:ea typeface="Inter" pitchFamily="34" charset="-122"/>
                <a:cs typeface="Inter" pitchFamily="34" charset="-120"/>
              </a:rPr>
              <a:t>Equivalent price</a:t>
            </a:r>
            <a:endParaRPr lang="en-US" sz="900" dirty="0"/>
          </a:p>
          <a:p>
            <a:pPr indent="0" marL="0">
              <a:lnSpc>
                <a:spcPct val="120000"/>
              </a:lnSpc>
              <a:spcBef>
                <a:spcPts val="600"/>
              </a:spcBef>
              <a:buNone/>
            </a:pPr>
            <a:r>
              <a:rPr lang="en-US" sz="1200" dirty="0">
                <a:solidFill>
                  <a:srgbClr val="A1A1AA"/>
                </a:solidFill>
                <a:latin typeface="Inter" pitchFamily="34" charset="0"/>
                <a:ea typeface="Inter" pitchFamily="34" charset="-122"/>
                <a:cs typeface="Inter" pitchFamily="34" charset="-120"/>
              </a:rPr>
              <a:t>The contribution is priced against what it displaces: pharma, fossil fuel...</a:t>
            </a:r>
            <a:endParaRPr lang="en-US" sz="900" dirty="0"/>
          </a:p>
        </p:txBody>
      </p:sp>
      <p:sp>
        <p:nvSpPr>
          <p:cNvPr id="7" name="Text 5"/>
          <p:cNvSpPr/>
          <p:nvPr/>
        </p:nvSpPr>
        <p:spPr>
          <a:xfrm>
            <a:off x="8199120" y="2956560"/>
            <a:ext cx="3147060" cy="1661160"/>
          </a:xfrm>
          <a:prstGeom prst="roundRect">
            <a:avLst>
              <a:gd name="adj" fmla="val 2202"/>
            </a:avLst>
          </a:prstGeom>
          <a:solidFill>
            <a:srgbClr val="0D0D0D"/>
          </a:solidFill>
          <a:ln w="9525">
            <a:solidFill>
              <a:srgbClr val="292929"/>
            </a:solidFill>
          </a:ln>
        </p:spPr>
        <p:txBody>
          <a:bodyPr wrap="square" lIns="213360" tIns="182880" rIns="213360" bIns="167640" rtlCol="0" anchor="t"/>
          <a:lstStyle/>
          <a:p>
            <a:pPr indent="0" marL="0">
              <a:buNone/>
            </a:pPr>
            <a:r>
              <a:rPr lang="en-US" sz="900" b="1" spc="220" kern="0" dirty="0">
                <a:solidFill>
                  <a:srgbClr val="34D399"/>
                </a:solidFill>
                <a:latin typeface="Inter" pitchFamily="34" charset="0"/>
                <a:ea typeface="Inter" pitchFamily="34" charset="-122"/>
                <a:cs typeface="Inter" pitchFamily="34" charset="-120"/>
              </a:rPr>
              <a:t>BACK TO YOU</a:t>
            </a:r>
            <a:endParaRPr lang="en-US" sz="900" dirty="0"/>
          </a:p>
          <a:p>
            <a:pPr indent="0" marL="0">
              <a:spcBef>
                <a:spcPts val="600"/>
              </a:spcBef>
              <a:buNone/>
            </a:pPr>
            <a:r>
              <a:rPr lang="en-US" sz="2040" b="1" dirty="0">
                <a:solidFill>
                  <a:srgbClr val="FFFFFF"/>
                </a:solidFill>
                <a:latin typeface="Inter" pitchFamily="34" charset="0"/>
                <a:ea typeface="Inter" pitchFamily="34" charset="-122"/>
                <a:cs typeface="Inter" pitchFamily="34" charset="-120"/>
              </a:rPr>
              <a:t>Streamed income</a:t>
            </a:r>
            <a:endParaRPr lang="en-US" sz="900" dirty="0"/>
          </a:p>
          <a:p>
            <a:pPr indent="0" marL="0">
              <a:lnSpc>
                <a:spcPct val="120000"/>
              </a:lnSpc>
              <a:spcBef>
                <a:spcPts val="600"/>
              </a:spcBef>
              <a:buNone/>
            </a:pPr>
            <a:r>
              <a:rPr lang="en-US" sz="1200" dirty="0">
                <a:solidFill>
                  <a:srgbClr val="A1A1AA"/>
                </a:solidFill>
                <a:latin typeface="Inter" pitchFamily="34" charset="0"/>
                <a:ea typeface="Inter" pitchFamily="34" charset="-122"/>
                <a:cs typeface="Inter" pitchFamily="34" charset="-120"/>
              </a:rPr>
              <a:t>V≡RT, paid in stablecoin.</a:t>
            </a:r>
            <a:endParaRPr lang="en-US" sz="900" dirty="0"/>
          </a:p>
        </p:txBody>
      </p:sp>
      <p:sp>
        <p:nvSpPr>
          <p:cNvPr id="8" name="Shape 6"/>
          <p:cNvSpPr/>
          <p:nvPr/>
        </p:nvSpPr>
        <p:spPr>
          <a:xfrm>
            <a:off x="4046220" y="3787140"/>
            <a:ext cx="411480" cy="0"/>
          </a:xfrm>
          <a:prstGeom prst="line">
            <a:avLst/>
          </a:prstGeom>
          <a:noFill/>
          <a:ln w="19050">
            <a:solidFill>
              <a:srgbClr val="34D399"/>
            </a:solidFill>
            <a:prstDash val="solid"/>
            <a:tailEnd type="arrow"/>
          </a:ln>
        </p:spPr>
      </p:sp>
      <p:sp>
        <p:nvSpPr>
          <p:cNvPr id="9" name="Shape 7"/>
          <p:cNvSpPr/>
          <p:nvPr/>
        </p:nvSpPr>
        <p:spPr>
          <a:xfrm>
            <a:off x="7726680" y="3787140"/>
            <a:ext cx="411480" cy="0"/>
          </a:xfrm>
          <a:prstGeom prst="line">
            <a:avLst/>
          </a:prstGeom>
          <a:noFill/>
          <a:ln w="19050">
            <a:solidFill>
              <a:srgbClr val="34D399"/>
            </a:solidFill>
            <a:prstDash val="solid"/>
            <a:tailEnd type="arrow"/>
          </a:ln>
        </p:spPr>
      </p:sp>
      <p:sp>
        <p:nvSpPr>
          <p:cNvPr id="10" name="Text 8"/>
          <p:cNvSpPr/>
          <p:nvPr/>
        </p:nvSpPr>
        <p:spPr>
          <a:xfrm>
            <a:off x="838200" y="4754880"/>
            <a:ext cx="6858000" cy="228600"/>
          </a:xfrm>
          <a:prstGeom prst="rect">
            <a:avLst/>
          </a:prstGeom>
          <a:noFill/>
          <a:ln/>
        </p:spPr>
        <p:txBody>
          <a:bodyPr wrap="square" lIns="0" tIns="0" rIns="0" bIns="0" rtlCol="0" anchor="t"/>
          <a:lstStyle/>
          <a:p>
            <a:pPr indent="0" marL="0">
              <a:buNone/>
            </a:pPr>
            <a:r>
              <a:rPr lang="en-US" sz="1140" dirty="0">
                <a:solidFill>
                  <a:srgbClr val="A1A1AA">
                    <a:alpha val="80000"/>
                  </a:srgbClr>
                </a:solidFill>
                <a:latin typeface="Inter" pitchFamily="34" charset="0"/>
                <a:ea typeface="Inter" pitchFamily="34" charset="-122"/>
                <a:cs typeface="Inter" pitchFamily="34" charset="-120"/>
              </a:rPr>
              <a:t>Only possible once stablecoins really scale.</a:t>
            </a:r>
            <a:endParaRPr lang="en-US" sz="11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Argonaut Agentic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Argonaut Agentic: V≡RT social cards (v2)</dc:title>
  <dc:subject>PptxGenJS Presentation</dc:subject>
  <dc:creator>Ashit Milne</dc:creator>
  <cp:lastModifiedBy>Ashit Milne</cp:lastModifiedBy>
  <cp:revision>1</cp:revision>
  <dcterms:created xsi:type="dcterms:W3CDTF">2026-10-11T23:55:30Z</dcterms:created>
  <dcterms:modified xsi:type="dcterms:W3CDTF">2026-10-11T23:55:30Z</dcterms:modified>
</cp:coreProperties>
</file>
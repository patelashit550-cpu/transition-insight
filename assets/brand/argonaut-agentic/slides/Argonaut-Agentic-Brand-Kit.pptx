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Lockup: logo/argonaut-agentic-horizontal-dark.png. Version and date from the brand sheet (argonaut-agentic-brand-sheet.png).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Files: logo/argonaut-agentic-horizontal-{dark,light}.png and -horizontal-notag-{dark,light}.png (SVG versions sit next to them). Below 320 px wide, use the no-tagline lockup (brand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Files: logo/argonaut-agentic-stacked-{dark,light}.png and logo/argonaut-agentic-icon-{dark,light}.png. Icon minimum size 24 px / 6 mm (brand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Chosen version B: vert/vert-mark-grey-short-ruled-b.svg (the stretched VeRT mark with off-white hairlines above and below), placed here as a PNG rasterised from the SVG because SVG does not survive Google Slides import. Line under the mark is from copy.md: 'VeRT: value-equivalent reverse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Files: vert/vert-mark-dark.png, vert/vert-mark-light.png, vert/vert-mark-grey-short.png. Caption from the brand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Hex values from src/palette.py (DARK and LIGHT). Swatches are native rectangles: recolour them by editing fill. Headline white #FFFFFF (.p3-brand-title-main) is also used for h1 text on the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specimen from the brand sheet. All live text here is Inter (available in Google Slides). The 'so yeah...' sample is a PNG rendered from src/assets/AshitHand-Regular.woff2.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Wording from the clear-space section of the brand sheet. Not on the original list for this kit, so delete this slide if you don't need it. The dashed green box is a native shape marking the clear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copy.md, 'Name + tagline options' (v2). Option 1 notes: your 'agentic payment utility' joined to the site's '...for a new Earth'. Options 2 and 3 are your words verbatim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(~100 words) from copy.md v2, verbatim (source markers [A]/[a]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A_DARK">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213360" y="213360"/>
            <a:ext cx="11765280" cy="6431280"/>
          </a:xfrm>
          <a:prstGeom prst="rect">
            <a:avLst/>
          </a:prstGeom>
          <a:solidFill>
            <a:srgbClr val="050505">
              <a:alpha val="0"/>
            </a:srgbClr>
          </a:solidFill>
          <a:ln w="9525">
            <a:solidFill>
              <a:srgbClr val="292929"/>
            </a:solidFill>
            <a:prstDash val="solid"/>
          </a:ln>
        </p:spPr>
      </p:sp>
      <p:sp>
        <p:nvSpPr>
          <p:cNvPr id="3" name="Shape 1"/>
          <p:cNvSpPr/>
          <p:nvPr/>
        </p:nvSpPr>
        <p:spPr>
          <a:xfrm>
            <a:off x="838200" y="5745480"/>
            <a:ext cx="10515600" cy="0"/>
          </a:xfrm>
          <a:prstGeom prst="line">
            <a:avLst/>
          </a:prstGeom>
          <a:noFill/>
          <a:ln w="9525">
            <a:solidFill>
              <a:srgbClr val="10B981">
                <a:alpha val="70000"/>
              </a:srgbClr>
            </a:solidFill>
            <a:prstDash val="solid"/>
          </a:ln>
        </p:spPr>
      </p:sp>
      <p:pic>
        <p:nvPicPr>
          <p:cNvPr id="4" name="Image 0" descr="/workspace/slides/argonaut-agentic-2j22GJ/assets/footer-lockup.png">    </p:cNvPr>
          <p:cNvPicPr>
            <a:picLocks noChangeAspect="1"/>
          </p:cNvPicPr>
          <p:nvPr/>
        </p:nvPicPr>
        <p:blipFill>
          <a:blip r:embed="rId1"/>
          <a:stretch>
            <a:fillRect/>
          </a:stretch>
        </p:blipFill>
        <p:spPr>
          <a:xfrm>
            <a:off x="838200" y="6004560"/>
            <a:ext cx="1539240" cy="3048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A_BARE">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213360" y="213360"/>
            <a:ext cx="11765280" cy="6431280"/>
          </a:xfrm>
          <a:prstGeom prst="rect">
            <a:avLst/>
          </a:prstGeom>
          <a:solidFill>
            <a:srgbClr val="050505">
              <a:alpha val="0"/>
            </a:srgbClr>
          </a:solidFill>
          <a:ln w="9525">
            <a:solidFill>
              <a:srgbClr val="292929"/>
            </a:solidFill>
            <a:prstDash val="solid"/>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workspace/brand/argonaut-agentic/logo/argonaut-agentic-horizontal-dark.png">    </p:cNvPr>
          <p:cNvPicPr>
            <a:picLocks noChangeAspect="1"/>
          </p:cNvPicPr>
          <p:nvPr/>
        </p:nvPicPr>
        <p:blipFill>
          <a:blip r:embed="rId1"/>
          <a:stretch>
            <a:fillRect/>
          </a:stretch>
        </p:blipFill>
        <p:spPr>
          <a:xfrm>
            <a:off x="838200" y="2286000"/>
            <a:ext cx="7620000" cy="1686214"/>
          </a:xfrm>
          <a:prstGeom prst="rect">
            <a:avLst/>
          </a:prstGeom>
        </p:spPr>
      </p:pic>
      <p:sp>
        <p:nvSpPr>
          <p:cNvPr id="3" name="Shape 0"/>
          <p:cNvSpPr/>
          <p:nvPr/>
        </p:nvSpPr>
        <p:spPr>
          <a:xfrm>
            <a:off x="838200" y="4572000"/>
            <a:ext cx="10515600" cy="0"/>
          </a:xfrm>
          <a:prstGeom prst="line">
            <a:avLst/>
          </a:prstGeom>
          <a:noFill/>
          <a:ln w="9525">
            <a:solidFill>
              <a:srgbClr val="10B981">
                <a:alpha val="70000"/>
              </a:srgbClr>
            </a:solidFill>
            <a:prstDash val="solid"/>
          </a:ln>
        </p:spPr>
      </p:sp>
      <p:sp>
        <p:nvSpPr>
          <p:cNvPr id="4" name="Text 1"/>
          <p:cNvSpPr/>
          <p:nvPr/>
        </p:nvSpPr>
        <p:spPr>
          <a:xfrm>
            <a:off x="838200" y="4800600"/>
            <a:ext cx="4572000" cy="304800"/>
          </a:xfrm>
          <a:prstGeom prst="rect">
            <a:avLst/>
          </a:prstGeom>
          <a:noFill/>
          <a:ln/>
        </p:spPr>
        <p:txBody>
          <a:bodyPr wrap="square" lIns="0" tIns="0" rIns="0" bIns="0" rtlCol="0" anchor="t"/>
          <a:lstStyle/>
          <a:p>
            <a:pPr indent="0" marL="0">
              <a:buNone/>
            </a:pPr>
            <a:r>
              <a:rPr lang="en-US" sz="1600" dirty="0">
                <a:solidFill>
                  <a:srgbClr val="A1A1AA"/>
                </a:solidFill>
                <a:latin typeface="Inter" pitchFamily="34" charset="0"/>
                <a:ea typeface="Inter" pitchFamily="34" charset="-122"/>
                <a:cs typeface="Inter" pitchFamily="34" charset="-120"/>
              </a:rPr>
              <a:t>Brand kit · v0.1</a:t>
            </a:r>
            <a:endParaRPr lang="en-US" sz="1600" dirty="0"/>
          </a:p>
        </p:txBody>
      </p:sp>
      <p:sp>
        <p:nvSpPr>
          <p:cNvPr id="5" name="Text 2"/>
          <p:cNvSpPr/>
          <p:nvPr/>
        </p:nvSpPr>
        <p:spPr>
          <a:xfrm>
            <a:off x="6781800" y="4800600"/>
            <a:ext cx="4572000" cy="304800"/>
          </a:xfrm>
          <a:prstGeom prst="rect">
            <a:avLst/>
          </a:prstGeom>
          <a:noFill/>
          <a:ln/>
        </p:spPr>
        <p:txBody>
          <a:bodyPr wrap="square" lIns="0" tIns="0" rIns="0" bIns="0" rtlCol="0" anchor="t"/>
          <a:lstStyle/>
          <a:p>
            <a:pPr algn="r" indent="0" marL="0">
              <a:buNone/>
            </a:pPr>
            <a:r>
              <a:rPr lang="en-US" sz="1600" dirty="0">
                <a:solidFill>
                  <a:srgbClr val="A1A1AA"/>
                </a:solidFill>
                <a:latin typeface="Inter" pitchFamily="34" charset="0"/>
                <a:ea typeface="Inter" pitchFamily="34" charset="-122"/>
                <a:cs typeface="Inter" pitchFamily="34" charset="-120"/>
              </a:rPr>
              <a:t>11 Oct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8200" y="731520"/>
            <a:ext cx="105156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LOCKUPS</a:t>
            </a:r>
            <a:endParaRPr lang="en-US" sz="1020" dirty="0"/>
          </a:p>
        </p:txBody>
      </p:sp>
      <p:sp>
        <p:nvSpPr>
          <p:cNvPr id="3" name="Text 1"/>
          <p:cNvSpPr/>
          <p:nvPr/>
        </p:nvSpPr>
        <p:spPr>
          <a:xfrm>
            <a:off x="838200" y="1021080"/>
            <a:ext cx="10515600" cy="609600"/>
          </a:xfrm>
          <a:prstGeom prst="rect">
            <a:avLst/>
          </a:prstGeom>
          <a:noFill/>
          <a:ln/>
        </p:spPr>
        <p:txBody>
          <a:bodyPr wrap="square" lIns="0" tIns="0" rIns="0" bIns="0" rtlCol="0" anchor="t"/>
          <a:lstStyle/>
          <a:p>
            <a:pPr indent="0" marL="0">
              <a:buNone/>
            </a:pPr>
            <a:r>
              <a:rPr lang="en-US" sz="3600" b="1" spc="-100" kern="0" dirty="0">
                <a:solidFill>
                  <a:srgbClr val="FFFFFF"/>
                </a:solidFill>
                <a:latin typeface="Inter" pitchFamily="34" charset="0"/>
                <a:ea typeface="Inter" pitchFamily="34" charset="-122"/>
                <a:cs typeface="Inter" pitchFamily="34" charset="-120"/>
              </a:rPr>
              <a:t>Horizontal</a:t>
            </a:r>
            <a:endParaRPr lang="en-US" sz="3600" dirty="0"/>
          </a:p>
        </p:txBody>
      </p:sp>
      <p:sp>
        <p:nvSpPr>
          <p:cNvPr id="4" name="Shape 2"/>
          <p:cNvSpPr/>
          <p:nvPr/>
        </p:nvSpPr>
        <p:spPr>
          <a:xfrm>
            <a:off x="838200" y="1905000"/>
            <a:ext cx="5166360" cy="1524000"/>
          </a:xfrm>
          <a:prstGeom prst="roundRect">
            <a:avLst>
              <a:gd name="adj" fmla="val 2400"/>
            </a:avLst>
          </a:prstGeom>
          <a:solidFill>
            <a:srgbClr val="050505"/>
          </a:solidFill>
          <a:ln w="9525">
            <a:solidFill>
              <a:srgbClr val="292929"/>
            </a:solidFill>
            <a:prstDash val="solid"/>
          </a:ln>
        </p:spPr>
      </p:sp>
      <p:pic>
        <p:nvPicPr>
          <p:cNvPr id="5" name="Image 0" descr="/workspace/brand/argonaut-agentic/logo/argonaut-agentic-horizontal-dark.png">    </p:cNvPr>
          <p:cNvPicPr>
            <a:picLocks noChangeAspect="1"/>
          </p:cNvPicPr>
          <p:nvPr/>
        </p:nvPicPr>
        <p:blipFill>
          <a:blip r:embed="rId1"/>
          <a:stretch>
            <a:fillRect/>
          </a:stretch>
        </p:blipFill>
        <p:spPr>
          <a:xfrm>
            <a:off x="1406500" y="2221131"/>
            <a:ext cx="4029761" cy="891737"/>
          </a:xfrm>
          <a:prstGeom prst="rect">
            <a:avLst/>
          </a:prstGeom>
        </p:spPr>
      </p:pic>
      <p:sp>
        <p:nvSpPr>
          <p:cNvPr id="6" name="Text 3"/>
          <p:cNvSpPr/>
          <p:nvPr/>
        </p:nvSpPr>
        <p:spPr>
          <a:xfrm>
            <a:off x="838200" y="3505200"/>
            <a:ext cx="5166360" cy="198120"/>
          </a:xfrm>
          <a:prstGeom prst="rect">
            <a:avLst/>
          </a:prstGeom>
          <a:noFill/>
          <a:ln/>
        </p:spPr>
        <p:txBody>
          <a:bodyPr wrap="square" lIns="0" tIns="0" rIns="0" bIns="0" rtlCol="0" anchor="t"/>
          <a:lstStyle/>
          <a:p>
            <a:pPr indent="0" marL="0">
              <a:buNone/>
            </a:pPr>
            <a:r>
              <a:rPr lang="en-US" sz="1000" dirty="0">
                <a:solidFill>
                  <a:srgbClr val="A1A1AA"/>
                </a:solidFill>
                <a:latin typeface="Inter" pitchFamily="34" charset="0"/>
                <a:ea typeface="Inter" pitchFamily="34" charset="-122"/>
                <a:cs typeface="Inter" pitchFamily="34" charset="-120"/>
              </a:rPr>
              <a:t>Horizontal · dark</a:t>
            </a:r>
            <a:endParaRPr lang="en-US" sz="1000" dirty="0"/>
          </a:p>
        </p:txBody>
      </p:sp>
      <p:sp>
        <p:nvSpPr>
          <p:cNvPr id="7" name="Shape 4"/>
          <p:cNvSpPr/>
          <p:nvPr/>
        </p:nvSpPr>
        <p:spPr>
          <a:xfrm>
            <a:off x="6187440" y="1905000"/>
            <a:ext cx="5166360" cy="1524000"/>
          </a:xfrm>
          <a:prstGeom prst="roundRect">
            <a:avLst>
              <a:gd name="adj" fmla="val 2400"/>
            </a:avLst>
          </a:prstGeom>
          <a:solidFill>
            <a:srgbClr val="FAFAFA"/>
          </a:solidFill>
          <a:ln w="9525">
            <a:solidFill>
              <a:srgbClr val="292929"/>
            </a:solidFill>
            <a:prstDash val="solid"/>
          </a:ln>
        </p:spPr>
      </p:sp>
      <p:pic>
        <p:nvPicPr>
          <p:cNvPr id="8" name="Image 1" descr="/workspace/brand/argonaut-agentic/logo/argonaut-agentic-horizontal-light.png">    </p:cNvPr>
          <p:cNvPicPr>
            <a:picLocks noChangeAspect="1"/>
          </p:cNvPicPr>
          <p:nvPr/>
        </p:nvPicPr>
        <p:blipFill>
          <a:blip r:embed="rId2"/>
          <a:stretch>
            <a:fillRect/>
          </a:stretch>
        </p:blipFill>
        <p:spPr>
          <a:xfrm>
            <a:off x="6755740" y="2221131"/>
            <a:ext cx="4029761" cy="891737"/>
          </a:xfrm>
          <a:prstGeom prst="rect">
            <a:avLst/>
          </a:prstGeom>
        </p:spPr>
      </p:pic>
      <p:sp>
        <p:nvSpPr>
          <p:cNvPr id="9" name="Text 5"/>
          <p:cNvSpPr/>
          <p:nvPr/>
        </p:nvSpPr>
        <p:spPr>
          <a:xfrm>
            <a:off x="6187440" y="3505200"/>
            <a:ext cx="5166360" cy="198120"/>
          </a:xfrm>
          <a:prstGeom prst="rect">
            <a:avLst/>
          </a:prstGeom>
          <a:noFill/>
          <a:ln/>
        </p:spPr>
        <p:txBody>
          <a:bodyPr wrap="square" lIns="0" tIns="0" rIns="0" bIns="0" rtlCol="0" anchor="t"/>
          <a:lstStyle/>
          <a:p>
            <a:pPr indent="0" marL="0">
              <a:buNone/>
            </a:pPr>
            <a:r>
              <a:rPr lang="en-US" sz="1000" dirty="0">
                <a:solidFill>
                  <a:srgbClr val="A1A1AA"/>
                </a:solidFill>
                <a:latin typeface="Inter" pitchFamily="34" charset="0"/>
                <a:ea typeface="Inter" pitchFamily="34" charset="-122"/>
                <a:cs typeface="Inter" pitchFamily="34" charset="-120"/>
              </a:rPr>
              <a:t>Horizontal · light</a:t>
            </a:r>
            <a:endParaRPr lang="en-US" sz="1000" dirty="0"/>
          </a:p>
        </p:txBody>
      </p:sp>
      <p:sp>
        <p:nvSpPr>
          <p:cNvPr id="10" name="Shape 6"/>
          <p:cNvSpPr/>
          <p:nvPr/>
        </p:nvSpPr>
        <p:spPr>
          <a:xfrm>
            <a:off x="838200" y="3825240"/>
            <a:ext cx="5166360" cy="1524000"/>
          </a:xfrm>
          <a:prstGeom prst="roundRect">
            <a:avLst>
              <a:gd name="adj" fmla="val 2400"/>
            </a:avLst>
          </a:prstGeom>
          <a:solidFill>
            <a:srgbClr val="050505"/>
          </a:solidFill>
          <a:ln w="9525">
            <a:solidFill>
              <a:srgbClr val="292929"/>
            </a:solidFill>
            <a:prstDash val="solid"/>
          </a:ln>
        </p:spPr>
      </p:sp>
      <p:pic>
        <p:nvPicPr>
          <p:cNvPr id="11" name="Image 2" descr="/workspace/brand/argonaut-agentic/logo/argonaut-agentic-horizontal-notag-dark.png">    </p:cNvPr>
          <p:cNvPicPr>
            <a:picLocks noChangeAspect="1"/>
          </p:cNvPicPr>
          <p:nvPr/>
        </p:nvPicPr>
        <p:blipFill>
          <a:blip r:embed="rId3"/>
          <a:stretch>
            <a:fillRect/>
          </a:stretch>
        </p:blipFill>
        <p:spPr>
          <a:xfrm>
            <a:off x="1406500" y="4188096"/>
            <a:ext cx="4029761" cy="798289"/>
          </a:xfrm>
          <a:prstGeom prst="rect">
            <a:avLst/>
          </a:prstGeom>
        </p:spPr>
      </p:pic>
      <p:sp>
        <p:nvSpPr>
          <p:cNvPr id="12" name="Text 7"/>
          <p:cNvSpPr/>
          <p:nvPr/>
        </p:nvSpPr>
        <p:spPr>
          <a:xfrm>
            <a:off x="838200" y="5425440"/>
            <a:ext cx="5166360" cy="198120"/>
          </a:xfrm>
          <a:prstGeom prst="rect">
            <a:avLst/>
          </a:prstGeom>
          <a:noFill/>
          <a:ln/>
        </p:spPr>
        <p:txBody>
          <a:bodyPr wrap="square" lIns="0" tIns="0" rIns="0" bIns="0" rtlCol="0" anchor="t"/>
          <a:lstStyle/>
          <a:p>
            <a:pPr indent="0" marL="0">
              <a:buNone/>
            </a:pPr>
            <a:r>
              <a:rPr lang="en-US" sz="1000" dirty="0">
                <a:solidFill>
                  <a:srgbClr val="A1A1AA"/>
                </a:solidFill>
                <a:latin typeface="Inter" pitchFamily="34" charset="0"/>
                <a:ea typeface="Inter" pitchFamily="34" charset="-122"/>
                <a:cs typeface="Inter" pitchFamily="34" charset="-120"/>
              </a:rPr>
              <a:t>Horizontal, no tagline · dark</a:t>
            </a:r>
            <a:endParaRPr lang="en-US" sz="1000" dirty="0"/>
          </a:p>
        </p:txBody>
      </p:sp>
      <p:sp>
        <p:nvSpPr>
          <p:cNvPr id="13" name="Shape 8"/>
          <p:cNvSpPr/>
          <p:nvPr/>
        </p:nvSpPr>
        <p:spPr>
          <a:xfrm>
            <a:off x="6187440" y="3825240"/>
            <a:ext cx="5166360" cy="1524000"/>
          </a:xfrm>
          <a:prstGeom prst="roundRect">
            <a:avLst>
              <a:gd name="adj" fmla="val 2400"/>
            </a:avLst>
          </a:prstGeom>
          <a:solidFill>
            <a:srgbClr val="FAFAFA"/>
          </a:solidFill>
          <a:ln w="9525">
            <a:solidFill>
              <a:srgbClr val="292929"/>
            </a:solidFill>
            <a:prstDash val="solid"/>
          </a:ln>
        </p:spPr>
      </p:sp>
      <p:pic>
        <p:nvPicPr>
          <p:cNvPr id="14" name="Image 3" descr="/workspace/brand/argonaut-agentic/logo/argonaut-agentic-horizontal-notag-light.png">    </p:cNvPr>
          <p:cNvPicPr>
            <a:picLocks noChangeAspect="1"/>
          </p:cNvPicPr>
          <p:nvPr/>
        </p:nvPicPr>
        <p:blipFill>
          <a:blip r:embed="rId4"/>
          <a:stretch>
            <a:fillRect/>
          </a:stretch>
        </p:blipFill>
        <p:spPr>
          <a:xfrm>
            <a:off x="6755740" y="4188096"/>
            <a:ext cx="4029761" cy="798289"/>
          </a:xfrm>
          <a:prstGeom prst="rect">
            <a:avLst/>
          </a:prstGeom>
        </p:spPr>
      </p:pic>
      <p:sp>
        <p:nvSpPr>
          <p:cNvPr id="15" name="Text 9"/>
          <p:cNvSpPr/>
          <p:nvPr/>
        </p:nvSpPr>
        <p:spPr>
          <a:xfrm>
            <a:off x="6187440" y="5425440"/>
            <a:ext cx="5166360" cy="198120"/>
          </a:xfrm>
          <a:prstGeom prst="rect">
            <a:avLst/>
          </a:prstGeom>
          <a:noFill/>
          <a:ln/>
        </p:spPr>
        <p:txBody>
          <a:bodyPr wrap="square" lIns="0" tIns="0" rIns="0" bIns="0" rtlCol="0" anchor="t"/>
          <a:lstStyle/>
          <a:p>
            <a:pPr indent="0" marL="0">
              <a:buNone/>
            </a:pPr>
            <a:r>
              <a:rPr lang="en-US" sz="1000" dirty="0">
                <a:solidFill>
                  <a:srgbClr val="A1A1AA"/>
                </a:solidFill>
                <a:latin typeface="Inter" pitchFamily="34" charset="0"/>
                <a:ea typeface="Inter" pitchFamily="34" charset="-122"/>
                <a:cs typeface="Inter" pitchFamily="34" charset="-120"/>
              </a:rPr>
              <a:t>Horizontal, no tagline · light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38200" y="731520"/>
            <a:ext cx="105156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LOCKUPS</a:t>
            </a:r>
            <a:endParaRPr lang="en-US" sz="1020" dirty="0"/>
          </a:p>
        </p:txBody>
      </p:sp>
      <p:sp>
        <p:nvSpPr>
          <p:cNvPr id="3" name="Text 1"/>
          <p:cNvSpPr/>
          <p:nvPr/>
        </p:nvSpPr>
        <p:spPr>
          <a:xfrm>
            <a:off x="838200" y="1021080"/>
            <a:ext cx="10515600" cy="609600"/>
          </a:xfrm>
          <a:prstGeom prst="rect">
            <a:avLst/>
          </a:prstGeom>
          <a:noFill/>
          <a:ln/>
        </p:spPr>
        <p:txBody>
          <a:bodyPr wrap="square" lIns="0" tIns="0" rIns="0" bIns="0" rtlCol="0" anchor="t"/>
          <a:lstStyle/>
          <a:p>
            <a:pPr indent="0" marL="0">
              <a:buNone/>
            </a:pPr>
            <a:r>
              <a:rPr lang="en-US" sz="3600" b="1" spc="-100" kern="0" dirty="0">
                <a:solidFill>
                  <a:srgbClr val="FFFFFF"/>
                </a:solidFill>
                <a:latin typeface="Inter" pitchFamily="34" charset="0"/>
                <a:ea typeface="Inter" pitchFamily="34" charset="-122"/>
                <a:cs typeface="Inter" pitchFamily="34" charset="-120"/>
              </a:rPr>
              <a:t>Stacked and icon</a:t>
            </a:r>
            <a:endParaRPr lang="en-US" sz="3600" dirty="0"/>
          </a:p>
        </p:txBody>
      </p:sp>
      <p:sp>
        <p:nvSpPr>
          <p:cNvPr id="4" name="Shape 2"/>
          <p:cNvSpPr/>
          <p:nvPr/>
        </p:nvSpPr>
        <p:spPr>
          <a:xfrm>
            <a:off x="838200" y="1905000"/>
            <a:ext cx="3962400" cy="3352800"/>
          </a:xfrm>
          <a:prstGeom prst="roundRect">
            <a:avLst>
              <a:gd name="adj" fmla="val 1091"/>
            </a:avLst>
          </a:prstGeom>
          <a:solidFill>
            <a:srgbClr val="050505"/>
          </a:solidFill>
          <a:ln w="9525">
            <a:solidFill>
              <a:srgbClr val="292929"/>
            </a:solidFill>
            <a:prstDash val="solid"/>
          </a:ln>
        </p:spPr>
      </p:sp>
      <p:pic>
        <p:nvPicPr>
          <p:cNvPr id="5" name="Image 0" descr="/workspace/brand/argonaut-agentic/logo/argonaut-agentic-stacked-dark.png">    </p:cNvPr>
          <p:cNvPicPr>
            <a:picLocks noChangeAspect="1"/>
          </p:cNvPicPr>
          <p:nvPr/>
        </p:nvPicPr>
        <p:blipFill>
          <a:blip r:embed="rId1"/>
          <a:stretch>
            <a:fillRect/>
          </a:stretch>
        </p:blipFill>
        <p:spPr>
          <a:xfrm>
            <a:off x="1234440" y="2798704"/>
            <a:ext cx="3169920" cy="1565393"/>
          </a:xfrm>
          <a:prstGeom prst="rect">
            <a:avLst/>
          </a:prstGeom>
        </p:spPr>
      </p:pic>
      <p:sp>
        <p:nvSpPr>
          <p:cNvPr id="6" name="Text 3"/>
          <p:cNvSpPr/>
          <p:nvPr/>
        </p:nvSpPr>
        <p:spPr>
          <a:xfrm>
            <a:off x="838200" y="5334000"/>
            <a:ext cx="3962400" cy="198120"/>
          </a:xfrm>
          <a:prstGeom prst="rect">
            <a:avLst/>
          </a:prstGeom>
          <a:noFill/>
          <a:ln/>
        </p:spPr>
        <p:txBody>
          <a:bodyPr wrap="square" lIns="0" tIns="0" rIns="0" bIns="0" rtlCol="0" anchor="t"/>
          <a:lstStyle/>
          <a:p>
            <a:pPr indent="0" marL="0">
              <a:buNone/>
            </a:pPr>
            <a:r>
              <a:rPr lang="en-US" sz="1000" dirty="0">
                <a:solidFill>
                  <a:srgbClr val="A1A1AA"/>
                </a:solidFill>
                <a:latin typeface="Inter" pitchFamily="34" charset="0"/>
                <a:ea typeface="Inter" pitchFamily="34" charset="-122"/>
                <a:cs typeface="Inter" pitchFamily="34" charset="-120"/>
              </a:rPr>
              <a:t>Stacked · dark</a:t>
            </a:r>
            <a:endParaRPr lang="en-US" sz="1000" dirty="0"/>
          </a:p>
        </p:txBody>
      </p:sp>
      <p:sp>
        <p:nvSpPr>
          <p:cNvPr id="7" name="Shape 4"/>
          <p:cNvSpPr/>
          <p:nvPr/>
        </p:nvSpPr>
        <p:spPr>
          <a:xfrm>
            <a:off x="4983480" y="1905000"/>
            <a:ext cx="3962400" cy="3352800"/>
          </a:xfrm>
          <a:prstGeom prst="roundRect">
            <a:avLst>
              <a:gd name="adj" fmla="val 1091"/>
            </a:avLst>
          </a:prstGeom>
          <a:solidFill>
            <a:srgbClr val="FAFAFA"/>
          </a:solidFill>
          <a:ln w="9525">
            <a:solidFill>
              <a:srgbClr val="292929"/>
            </a:solidFill>
            <a:prstDash val="solid"/>
          </a:ln>
        </p:spPr>
      </p:sp>
      <p:pic>
        <p:nvPicPr>
          <p:cNvPr id="8" name="Image 1" descr="/workspace/brand/argonaut-agentic/logo/argonaut-agentic-stacked-light.png">    </p:cNvPr>
          <p:cNvPicPr>
            <a:picLocks noChangeAspect="1"/>
          </p:cNvPicPr>
          <p:nvPr/>
        </p:nvPicPr>
        <p:blipFill>
          <a:blip r:embed="rId2"/>
          <a:stretch>
            <a:fillRect/>
          </a:stretch>
        </p:blipFill>
        <p:spPr>
          <a:xfrm>
            <a:off x="5379720" y="2798704"/>
            <a:ext cx="3169920" cy="1565393"/>
          </a:xfrm>
          <a:prstGeom prst="rect">
            <a:avLst/>
          </a:prstGeom>
        </p:spPr>
      </p:pic>
      <p:sp>
        <p:nvSpPr>
          <p:cNvPr id="9" name="Text 5"/>
          <p:cNvSpPr/>
          <p:nvPr/>
        </p:nvSpPr>
        <p:spPr>
          <a:xfrm>
            <a:off x="4983480" y="5334000"/>
            <a:ext cx="3962400" cy="198120"/>
          </a:xfrm>
          <a:prstGeom prst="rect">
            <a:avLst/>
          </a:prstGeom>
          <a:noFill/>
          <a:ln/>
        </p:spPr>
        <p:txBody>
          <a:bodyPr wrap="square" lIns="0" tIns="0" rIns="0" bIns="0" rtlCol="0" anchor="t"/>
          <a:lstStyle/>
          <a:p>
            <a:pPr indent="0" marL="0">
              <a:buNone/>
            </a:pPr>
            <a:r>
              <a:rPr lang="en-US" sz="1000" dirty="0">
                <a:solidFill>
                  <a:srgbClr val="A1A1AA"/>
                </a:solidFill>
                <a:latin typeface="Inter" pitchFamily="34" charset="0"/>
                <a:ea typeface="Inter" pitchFamily="34" charset="-122"/>
                <a:cs typeface="Inter" pitchFamily="34" charset="-120"/>
              </a:rPr>
              <a:t>Stacked · light</a:t>
            </a:r>
            <a:endParaRPr lang="en-US" sz="1000" dirty="0"/>
          </a:p>
        </p:txBody>
      </p:sp>
      <p:sp>
        <p:nvSpPr>
          <p:cNvPr id="10" name="Shape 6"/>
          <p:cNvSpPr/>
          <p:nvPr/>
        </p:nvSpPr>
        <p:spPr>
          <a:xfrm>
            <a:off x="9128760" y="1905000"/>
            <a:ext cx="2225040" cy="1493520"/>
          </a:xfrm>
          <a:prstGeom prst="roundRect">
            <a:avLst>
              <a:gd name="adj" fmla="val 2449"/>
            </a:avLst>
          </a:prstGeom>
          <a:solidFill>
            <a:srgbClr val="050505"/>
          </a:solidFill>
          <a:ln w="9525">
            <a:solidFill>
              <a:srgbClr val="292929"/>
            </a:solidFill>
            <a:prstDash val="solid"/>
          </a:ln>
        </p:spPr>
      </p:sp>
      <p:pic>
        <p:nvPicPr>
          <p:cNvPr id="11" name="Image 2" descr="/workspace/brand/argonaut-agentic/logo/argonaut-agentic-icon-dark.png">    </p:cNvPr>
          <p:cNvPicPr>
            <a:picLocks noChangeAspect="1"/>
          </p:cNvPicPr>
          <p:nvPr/>
        </p:nvPicPr>
        <p:blipFill>
          <a:blip r:embed="rId3"/>
          <a:stretch>
            <a:fillRect/>
          </a:stretch>
        </p:blipFill>
        <p:spPr>
          <a:xfrm>
            <a:off x="9778289" y="2188769"/>
            <a:ext cx="925982" cy="925982"/>
          </a:xfrm>
          <a:prstGeom prst="rect">
            <a:avLst/>
          </a:prstGeom>
        </p:spPr>
      </p:pic>
      <p:sp>
        <p:nvSpPr>
          <p:cNvPr id="12" name="Text 7"/>
          <p:cNvSpPr/>
          <p:nvPr/>
        </p:nvSpPr>
        <p:spPr>
          <a:xfrm>
            <a:off x="9128760" y="3429000"/>
            <a:ext cx="2225040" cy="198120"/>
          </a:xfrm>
          <a:prstGeom prst="rect">
            <a:avLst/>
          </a:prstGeom>
          <a:noFill/>
          <a:ln/>
        </p:spPr>
        <p:txBody>
          <a:bodyPr wrap="square" lIns="0" tIns="0" rIns="0" bIns="0" rtlCol="0" anchor="t"/>
          <a:lstStyle/>
          <a:p>
            <a:pPr indent="0" marL="0">
              <a:buNone/>
            </a:pPr>
            <a:r>
              <a:rPr lang="en-US" sz="1000" dirty="0">
                <a:solidFill>
                  <a:srgbClr val="A1A1AA"/>
                </a:solidFill>
                <a:latin typeface="Inter" pitchFamily="34" charset="0"/>
                <a:ea typeface="Inter" pitchFamily="34" charset="-122"/>
                <a:cs typeface="Inter" pitchFamily="34" charset="-120"/>
              </a:rPr>
              <a:t>Icon · dark</a:t>
            </a:r>
            <a:endParaRPr lang="en-US" sz="1000" dirty="0"/>
          </a:p>
        </p:txBody>
      </p:sp>
      <p:sp>
        <p:nvSpPr>
          <p:cNvPr id="13" name="Shape 8"/>
          <p:cNvSpPr/>
          <p:nvPr/>
        </p:nvSpPr>
        <p:spPr>
          <a:xfrm>
            <a:off x="9128760" y="3764280"/>
            <a:ext cx="2225040" cy="1493520"/>
          </a:xfrm>
          <a:prstGeom prst="roundRect">
            <a:avLst>
              <a:gd name="adj" fmla="val 2449"/>
            </a:avLst>
          </a:prstGeom>
          <a:solidFill>
            <a:srgbClr val="FAFAFA"/>
          </a:solidFill>
          <a:ln w="9525">
            <a:solidFill>
              <a:srgbClr val="292929"/>
            </a:solidFill>
            <a:prstDash val="solid"/>
          </a:ln>
        </p:spPr>
      </p:sp>
      <p:pic>
        <p:nvPicPr>
          <p:cNvPr id="14" name="Image 3" descr="/workspace/brand/argonaut-agentic/logo/argonaut-agentic-icon-light.png">    </p:cNvPr>
          <p:cNvPicPr>
            <a:picLocks noChangeAspect="1"/>
          </p:cNvPicPr>
          <p:nvPr/>
        </p:nvPicPr>
        <p:blipFill>
          <a:blip r:embed="rId4"/>
          <a:stretch>
            <a:fillRect/>
          </a:stretch>
        </p:blipFill>
        <p:spPr>
          <a:xfrm>
            <a:off x="9778289" y="4048049"/>
            <a:ext cx="925982" cy="925982"/>
          </a:xfrm>
          <a:prstGeom prst="rect">
            <a:avLst/>
          </a:prstGeom>
        </p:spPr>
      </p:pic>
      <p:sp>
        <p:nvSpPr>
          <p:cNvPr id="15" name="Text 9"/>
          <p:cNvSpPr/>
          <p:nvPr/>
        </p:nvSpPr>
        <p:spPr>
          <a:xfrm>
            <a:off x="9128760" y="5288280"/>
            <a:ext cx="2225040" cy="198120"/>
          </a:xfrm>
          <a:prstGeom prst="rect">
            <a:avLst/>
          </a:prstGeom>
          <a:noFill/>
          <a:ln/>
        </p:spPr>
        <p:txBody>
          <a:bodyPr wrap="square" lIns="0" tIns="0" rIns="0" bIns="0" rtlCol="0" anchor="t"/>
          <a:lstStyle/>
          <a:p>
            <a:pPr indent="0" marL="0">
              <a:buNone/>
            </a:pPr>
            <a:r>
              <a:rPr lang="en-US" sz="1000" dirty="0">
                <a:solidFill>
                  <a:srgbClr val="A1A1AA"/>
                </a:solidFill>
                <a:latin typeface="Inter" pitchFamily="34" charset="0"/>
                <a:ea typeface="Inter" pitchFamily="34" charset="-122"/>
                <a:cs typeface="Inter" pitchFamily="34" charset="-120"/>
              </a:rPr>
              <a:t>Icon · light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38200" y="731520"/>
            <a:ext cx="105156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VERT MARK · VERSION B</a:t>
            </a:r>
            <a:endParaRPr lang="en-US" sz="1020" dirty="0"/>
          </a:p>
        </p:txBody>
      </p:sp>
      <p:pic>
        <p:nvPicPr>
          <p:cNvPr id="3" name="Image 0" descr="/workspace/slides/argonaut-agentic-2j22GJ/assets/vert-mark-ruled-b.png">    </p:cNvPr>
          <p:cNvPicPr>
            <a:picLocks noChangeAspect="1"/>
          </p:cNvPicPr>
          <p:nvPr/>
        </p:nvPicPr>
        <p:blipFill>
          <a:blip r:embed="rId1"/>
          <a:stretch>
            <a:fillRect/>
          </a:stretch>
        </p:blipFill>
        <p:spPr>
          <a:xfrm>
            <a:off x="2133600" y="1676400"/>
            <a:ext cx="7924800" cy="2771878"/>
          </a:xfrm>
          <a:prstGeom prst="rect">
            <a:avLst/>
          </a:prstGeom>
        </p:spPr>
      </p:pic>
      <p:sp>
        <p:nvSpPr>
          <p:cNvPr id="4" name="Text 1"/>
          <p:cNvSpPr/>
          <p:nvPr/>
        </p:nvSpPr>
        <p:spPr>
          <a:xfrm>
            <a:off x="838200" y="4876800"/>
            <a:ext cx="10515600" cy="304800"/>
          </a:xfrm>
          <a:prstGeom prst="rect">
            <a:avLst/>
          </a:prstGeom>
          <a:noFill/>
          <a:ln/>
        </p:spPr>
        <p:txBody>
          <a:bodyPr wrap="square" lIns="0" tIns="0" rIns="0" bIns="0" rtlCol="0" anchor="t"/>
          <a:lstStyle/>
          <a:p>
            <a:pPr algn="ctr" indent="0" marL="0">
              <a:buNone/>
            </a:pPr>
            <a:r>
              <a:rPr lang="en-US" sz="1800" dirty="0">
                <a:solidFill>
                  <a:srgbClr val="D4D4D8"/>
                </a:solidFill>
                <a:latin typeface="Inter" pitchFamily="34" charset="0"/>
                <a:ea typeface="Inter" pitchFamily="34" charset="-122"/>
                <a:cs typeface="Inter" pitchFamily="34" charset="-120"/>
              </a:rPr>
              <a:t>VeRT: value-equivalent reverse transfer</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38200" y="731520"/>
            <a:ext cx="105156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VERT MARKS</a:t>
            </a:r>
            <a:endParaRPr lang="en-US" sz="1020" dirty="0"/>
          </a:p>
        </p:txBody>
      </p:sp>
      <p:sp>
        <p:nvSpPr>
          <p:cNvPr id="3" name="Text 1"/>
          <p:cNvSpPr/>
          <p:nvPr/>
        </p:nvSpPr>
        <p:spPr>
          <a:xfrm>
            <a:off x="838200" y="1021080"/>
            <a:ext cx="10515600" cy="609600"/>
          </a:xfrm>
          <a:prstGeom prst="rect">
            <a:avLst/>
          </a:prstGeom>
          <a:noFill/>
          <a:ln/>
        </p:spPr>
        <p:txBody>
          <a:bodyPr wrap="square" lIns="0" tIns="0" rIns="0" bIns="0" rtlCol="0" anchor="t"/>
          <a:lstStyle/>
          <a:p>
            <a:pPr indent="0" marL="0">
              <a:buNone/>
            </a:pPr>
            <a:r>
              <a:rPr lang="en-US" sz="3600" b="1" spc="-100" kern="0" dirty="0">
                <a:solidFill>
                  <a:srgbClr val="FFFFFF"/>
                </a:solidFill>
                <a:latin typeface="Inter" pitchFamily="34" charset="0"/>
                <a:ea typeface="Inter" pitchFamily="34" charset="-122"/>
                <a:cs typeface="Inter" pitchFamily="34" charset="-120"/>
              </a:rPr>
              <a:t>Sub-mark variants</a:t>
            </a:r>
            <a:endParaRPr lang="en-US" sz="3600" dirty="0"/>
          </a:p>
        </p:txBody>
      </p:sp>
      <p:sp>
        <p:nvSpPr>
          <p:cNvPr id="4" name="Shape 2"/>
          <p:cNvSpPr/>
          <p:nvPr/>
        </p:nvSpPr>
        <p:spPr>
          <a:xfrm>
            <a:off x="838200" y="1905000"/>
            <a:ext cx="3383280" cy="2286000"/>
          </a:xfrm>
          <a:prstGeom prst="roundRect">
            <a:avLst>
              <a:gd name="adj" fmla="val 1600"/>
            </a:avLst>
          </a:prstGeom>
          <a:solidFill>
            <a:srgbClr val="050505"/>
          </a:solidFill>
          <a:ln w="9525">
            <a:solidFill>
              <a:srgbClr val="292929"/>
            </a:solidFill>
            <a:prstDash val="solid"/>
          </a:ln>
        </p:spPr>
      </p:sp>
      <p:pic>
        <p:nvPicPr>
          <p:cNvPr id="5" name="Image 0" descr="/workspace/brand/argonaut-agentic/vert/vert-mark-dark.png">    </p:cNvPr>
          <p:cNvPicPr>
            <a:picLocks noChangeAspect="1"/>
          </p:cNvPicPr>
          <p:nvPr/>
        </p:nvPicPr>
        <p:blipFill>
          <a:blip r:embed="rId1"/>
          <a:stretch>
            <a:fillRect/>
          </a:stretch>
        </p:blipFill>
        <p:spPr>
          <a:xfrm>
            <a:off x="1176528" y="2278198"/>
            <a:ext cx="2706624" cy="1539604"/>
          </a:xfrm>
          <a:prstGeom prst="rect">
            <a:avLst/>
          </a:prstGeom>
        </p:spPr>
      </p:pic>
      <p:sp>
        <p:nvSpPr>
          <p:cNvPr id="6" name="Text 3"/>
          <p:cNvSpPr/>
          <p:nvPr/>
        </p:nvSpPr>
        <p:spPr>
          <a:xfrm>
            <a:off x="838200" y="4267200"/>
            <a:ext cx="3383280" cy="198120"/>
          </a:xfrm>
          <a:prstGeom prst="rect">
            <a:avLst/>
          </a:prstGeom>
          <a:noFill/>
          <a:ln/>
        </p:spPr>
        <p:txBody>
          <a:bodyPr wrap="square" lIns="0" tIns="0" rIns="0" bIns="0" rtlCol="0" anchor="t"/>
          <a:lstStyle/>
          <a:p>
            <a:pPr indent="0" marL="0">
              <a:buNone/>
            </a:pPr>
            <a:r>
              <a:rPr lang="en-US" sz="1000" dirty="0">
                <a:solidFill>
                  <a:srgbClr val="A1A1AA"/>
                </a:solidFill>
                <a:latin typeface="Inter" pitchFamily="34" charset="0"/>
                <a:ea typeface="Inter" pitchFamily="34" charset="-122"/>
                <a:cs typeface="Inter" pitchFamily="34" charset="-120"/>
              </a:rPr>
              <a:t>VeRT · dark</a:t>
            </a:r>
            <a:endParaRPr lang="en-US" sz="1000" dirty="0"/>
          </a:p>
        </p:txBody>
      </p:sp>
      <p:sp>
        <p:nvSpPr>
          <p:cNvPr id="7" name="Shape 4"/>
          <p:cNvSpPr/>
          <p:nvPr/>
        </p:nvSpPr>
        <p:spPr>
          <a:xfrm>
            <a:off x="4404360" y="1905000"/>
            <a:ext cx="3383280" cy="2286000"/>
          </a:xfrm>
          <a:prstGeom prst="roundRect">
            <a:avLst>
              <a:gd name="adj" fmla="val 1600"/>
            </a:avLst>
          </a:prstGeom>
          <a:solidFill>
            <a:srgbClr val="FAFAFA"/>
          </a:solidFill>
          <a:ln w="9525">
            <a:solidFill>
              <a:srgbClr val="292929"/>
            </a:solidFill>
            <a:prstDash val="solid"/>
          </a:ln>
        </p:spPr>
      </p:sp>
      <p:pic>
        <p:nvPicPr>
          <p:cNvPr id="8" name="Image 1" descr="/workspace/brand/argonaut-agentic/vert/vert-mark-light.png">    </p:cNvPr>
          <p:cNvPicPr>
            <a:picLocks noChangeAspect="1"/>
          </p:cNvPicPr>
          <p:nvPr/>
        </p:nvPicPr>
        <p:blipFill>
          <a:blip r:embed="rId2"/>
          <a:stretch>
            <a:fillRect/>
          </a:stretch>
        </p:blipFill>
        <p:spPr>
          <a:xfrm>
            <a:off x="4742688" y="2278198"/>
            <a:ext cx="2706624" cy="1539604"/>
          </a:xfrm>
          <a:prstGeom prst="rect">
            <a:avLst/>
          </a:prstGeom>
        </p:spPr>
      </p:pic>
      <p:sp>
        <p:nvSpPr>
          <p:cNvPr id="9" name="Text 5"/>
          <p:cNvSpPr/>
          <p:nvPr/>
        </p:nvSpPr>
        <p:spPr>
          <a:xfrm>
            <a:off x="4404360" y="4267200"/>
            <a:ext cx="3383280" cy="198120"/>
          </a:xfrm>
          <a:prstGeom prst="rect">
            <a:avLst/>
          </a:prstGeom>
          <a:noFill/>
          <a:ln/>
        </p:spPr>
        <p:txBody>
          <a:bodyPr wrap="square" lIns="0" tIns="0" rIns="0" bIns="0" rtlCol="0" anchor="t"/>
          <a:lstStyle/>
          <a:p>
            <a:pPr indent="0" marL="0">
              <a:buNone/>
            </a:pPr>
            <a:r>
              <a:rPr lang="en-US" sz="1000" dirty="0">
                <a:solidFill>
                  <a:srgbClr val="A1A1AA"/>
                </a:solidFill>
                <a:latin typeface="Inter" pitchFamily="34" charset="0"/>
                <a:ea typeface="Inter" pitchFamily="34" charset="-122"/>
                <a:cs typeface="Inter" pitchFamily="34" charset="-120"/>
              </a:rPr>
              <a:t>VeRT · light</a:t>
            </a:r>
            <a:endParaRPr lang="en-US" sz="1000" dirty="0"/>
          </a:p>
        </p:txBody>
      </p:sp>
      <p:sp>
        <p:nvSpPr>
          <p:cNvPr id="10" name="Shape 6"/>
          <p:cNvSpPr/>
          <p:nvPr/>
        </p:nvSpPr>
        <p:spPr>
          <a:xfrm>
            <a:off x="7970520" y="1905000"/>
            <a:ext cx="3383280" cy="2286000"/>
          </a:xfrm>
          <a:prstGeom prst="roundRect">
            <a:avLst>
              <a:gd name="adj" fmla="val 1600"/>
            </a:avLst>
          </a:prstGeom>
          <a:solidFill>
            <a:srgbClr val="1A1A1C"/>
          </a:solidFill>
          <a:ln w="9525">
            <a:solidFill>
              <a:srgbClr val="292929"/>
            </a:solidFill>
            <a:prstDash val="solid"/>
          </a:ln>
        </p:spPr>
      </p:sp>
      <p:pic>
        <p:nvPicPr>
          <p:cNvPr id="11" name="Image 2" descr="/workspace/brand/argonaut-agentic/vert/vert-mark-grey-short.png">    </p:cNvPr>
          <p:cNvPicPr>
            <a:picLocks noChangeAspect="1"/>
          </p:cNvPicPr>
          <p:nvPr/>
        </p:nvPicPr>
        <p:blipFill>
          <a:blip r:embed="rId3"/>
          <a:stretch>
            <a:fillRect/>
          </a:stretch>
        </p:blipFill>
        <p:spPr>
          <a:xfrm>
            <a:off x="8308848" y="2556780"/>
            <a:ext cx="2706624" cy="982441"/>
          </a:xfrm>
          <a:prstGeom prst="rect">
            <a:avLst/>
          </a:prstGeom>
        </p:spPr>
      </p:pic>
      <p:sp>
        <p:nvSpPr>
          <p:cNvPr id="12" name="Text 7"/>
          <p:cNvSpPr/>
          <p:nvPr/>
        </p:nvSpPr>
        <p:spPr>
          <a:xfrm>
            <a:off x="7970520" y="4267200"/>
            <a:ext cx="3383280" cy="198120"/>
          </a:xfrm>
          <a:prstGeom prst="rect">
            <a:avLst/>
          </a:prstGeom>
          <a:noFill/>
          <a:ln/>
        </p:spPr>
        <p:txBody>
          <a:bodyPr wrap="square" lIns="0" tIns="0" rIns="0" bIns="0" rtlCol="0" anchor="t"/>
          <a:lstStyle/>
          <a:p>
            <a:pPr indent="0" marL="0">
              <a:buNone/>
            </a:pPr>
            <a:r>
              <a:rPr lang="en-US" sz="1000" dirty="0">
                <a:solidFill>
                  <a:srgbClr val="A1A1AA"/>
                </a:solidFill>
                <a:latin typeface="Inter" pitchFamily="34" charset="0"/>
                <a:ea typeface="Inter" pitchFamily="34" charset="-122"/>
                <a:cs typeface="Inter" pitchFamily="34" charset="-120"/>
              </a:rPr>
              <a:t>VeRT · grey, short</a:t>
            </a:r>
            <a:endParaRPr lang="en-US" sz="1000" dirty="0"/>
          </a:p>
        </p:txBody>
      </p:sp>
      <p:sp>
        <p:nvSpPr>
          <p:cNvPr id="13" name="Text 8"/>
          <p:cNvSpPr/>
          <p:nvPr/>
        </p:nvSpPr>
        <p:spPr>
          <a:xfrm>
            <a:off x="838200" y="4876800"/>
            <a:ext cx="10515600" cy="304800"/>
          </a:xfrm>
          <a:prstGeom prst="rect">
            <a:avLst/>
          </a:prstGeom>
          <a:noFill/>
          <a:ln/>
        </p:spPr>
        <p:txBody>
          <a:bodyPr wrap="square" lIns="0" tIns="0" rIns="0" bIns="0" rtlCol="0" anchor="t"/>
          <a:lstStyle/>
          <a:p>
            <a:pPr indent="0" marL="0">
              <a:buNone/>
            </a:pPr>
            <a:r>
              <a:rPr lang="en-US" sz="1400" dirty="0">
                <a:solidFill>
                  <a:srgbClr val="A1A1AA"/>
                </a:solidFill>
                <a:latin typeface="Inter" pitchFamily="34" charset="0"/>
                <a:ea typeface="Inter" pitchFamily="34" charset="-122"/>
                <a:cs typeface="Inter" pitchFamily="34" charset="-120"/>
              </a:rPr>
              <a:t>VeRT sub-mark: lower-case green e for "equivalent", thin green rule, expansion in tracked caps.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38200" y="731520"/>
            <a:ext cx="105156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PALETTE · LIFTED FROM TRANSITION-INSIGHT GLOBALS.CSS</a:t>
            </a:r>
            <a:endParaRPr lang="en-US" sz="1020" dirty="0"/>
          </a:p>
        </p:txBody>
      </p:sp>
      <p:sp>
        <p:nvSpPr>
          <p:cNvPr id="3" name="Text 1"/>
          <p:cNvSpPr/>
          <p:nvPr/>
        </p:nvSpPr>
        <p:spPr>
          <a:xfrm>
            <a:off x="838200" y="1021080"/>
            <a:ext cx="10515600" cy="609600"/>
          </a:xfrm>
          <a:prstGeom prst="rect">
            <a:avLst/>
          </a:prstGeom>
          <a:noFill/>
          <a:ln/>
        </p:spPr>
        <p:txBody>
          <a:bodyPr wrap="square" lIns="0" tIns="0" rIns="0" bIns="0" rtlCol="0" anchor="t"/>
          <a:lstStyle/>
          <a:p>
            <a:pPr indent="0" marL="0">
              <a:buNone/>
            </a:pPr>
            <a:r>
              <a:rPr lang="en-US" sz="3600" b="1" spc="-100" kern="0" dirty="0">
                <a:solidFill>
                  <a:srgbClr val="FFFFFF"/>
                </a:solidFill>
                <a:latin typeface="Inter" pitchFamily="34" charset="0"/>
                <a:ea typeface="Inter" pitchFamily="34" charset="-122"/>
                <a:cs typeface="Inter" pitchFamily="34" charset="-120"/>
              </a:rPr>
              <a:t>Colour</a:t>
            </a:r>
            <a:endParaRPr lang="en-US" sz="3600" dirty="0"/>
          </a:p>
        </p:txBody>
      </p:sp>
      <p:sp>
        <p:nvSpPr>
          <p:cNvPr id="4" name="Shape 2"/>
          <p:cNvSpPr/>
          <p:nvPr/>
        </p:nvSpPr>
        <p:spPr>
          <a:xfrm>
            <a:off x="838200" y="1828800"/>
            <a:ext cx="1956816" cy="914400"/>
          </a:xfrm>
          <a:prstGeom prst="rect">
            <a:avLst/>
          </a:prstGeom>
          <a:solidFill>
            <a:srgbClr val="050505"/>
          </a:solidFill>
          <a:ln w="9525">
            <a:solidFill>
              <a:srgbClr val="3F3F46"/>
            </a:solidFill>
            <a:prstDash val="solid"/>
          </a:ln>
        </p:spPr>
      </p:sp>
      <p:sp>
        <p:nvSpPr>
          <p:cNvPr id="5" name="Text 3"/>
          <p:cNvSpPr/>
          <p:nvPr/>
        </p:nvSpPr>
        <p:spPr>
          <a:xfrm>
            <a:off x="838200" y="2834640"/>
            <a:ext cx="1956816" cy="762000"/>
          </a:xfrm>
          <a:prstGeom prst="rect">
            <a:avLst/>
          </a:prstGeom>
          <a:noFill/>
          <a:ln/>
        </p:spPr>
        <p:txBody>
          <a:bodyPr wrap="square" lIns="0" tIns="0" rIns="0" bIns="0" rtlCol="0" anchor="t"/>
          <a:lstStyle/>
          <a:p>
            <a:pPr indent="0" marL="0">
              <a:spcBef>
                <a:spcPts val="200"/>
              </a:spcBef>
              <a:buNone/>
            </a:pPr>
            <a:r>
              <a:rPr lang="en-US" sz="1300" b="1" dirty="0">
                <a:solidFill>
                  <a:srgbClr val="FAFAFA"/>
                </a:solidFill>
                <a:latin typeface="Inter" pitchFamily="34" charset="0"/>
                <a:ea typeface="Inter" pitchFamily="34" charset="-122"/>
                <a:cs typeface="Inter" pitchFamily="34" charset="-120"/>
              </a:rPr>
              <a:t>Night</a:t>
            </a:r>
            <a:endParaRPr lang="en-US" sz="1300" dirty="0"/>
          </a:p>
          <a:p>
            <a:pPr indent="0" marL="0">
              <a:spcBef>
                <a:spcPts val="200"/>
              </a:spcBef>
              <a:buNone/>
            </a:pPr>
            <a:r>
              <a:rPr lang="en-US" sz="1200" dirty="0">
                <a:solidFill>
                  <a:srgbClr val="34D399"/>
                </a:solidFill>
                <a:latin typeface="Inter" pitchFamily="34" charset="0"/>
                <a:ea typeface="Inter" pitchFamily="34" charset="-122"/>
                <a:cs typeface="Inter" pitchFamily="34" charset="-120"/>
              </a:rPr>
              <a:t>#050505</a:t>
            </a:r>
            <a:endParaRPr lang="en-US" sz="1300" dirty="0"/>
          </a:p>
          <a:p>
            <a:pPr indent="0" marL="0">
              <a:spcBef>
                <a:spcPts val="200"/>
              </a:spcBef>
              <a:buNone/>
            </a:pPr>
            <a:r>
              <a:rPr lang="en-US" sz="950" dirty="0">
                <a:solidFill>
                  <a:srgbClr val="A1A1AA"/>
                </a:solidFill>
                <a:latin typeface="Inter" pitchFamily="34" charset="0"/>
                <a:ea typeface="Inter" pitchFamily="34" charset="-122"/>
                <a:cs typeface="Inter" pitchFamily="34" charset="-120"/>
              </a:rPr>
              <a:t>--background 0 0% 2%</a:t>
            </a:r>
            <a:endParaRPr lang="en-US" sz="1300" dirty="0"/>
          </a:p>
        </p:txBody>
      </p:sp>
      <p:sp>
        <p:nvSpPr>
          <p:cNvPr id="6" name="Shape 4"/>
          <p:cNvSpPr/>
          <p:nvPr/>
        </p:nvSpPr>
        <p:spPr>
          <a:xfrm>
            <a:off x="2977896" y="1828800"/>
            <a:ext cx="1956816" cy="914400"/>
          </a:xfrm>
          <a:prstGeom prst="rect">
            <a:avLst/>
          </a:prstGeom>
          <a:solidFill>
            <a:srgbClr val="0D0D0D"/>
          </a:solidFill>
          <a:ln w="9525">
            <a:solidFill>
              <a:srgbClr val="3F3F46"/>
            </a:solidFill>
            <a:prstDash val="solid"/>
          </a:ln>
        </p:spPr>
      </p:sp>
      <p:sp>
        <p:nvSpPr>
          <p:cNvPr id="7" name="Text 5"/>
          <p:cNvSpPr/>
          <p:nvPr/>
        </p:nvSpPr>
        <p:spPr>
          <a:xfrm>
            <a:off x="2977896" y="2834640"/>
            <a:ext cx="1956816" cy="762000"/>
          </a:xfrm>
          <a:prstGeom prst="rect">
            <a:avLst/>
          </a:prstGeom>
          <a:noFill/>
          <a:ln/>
        </p:spPr>
        <p:txBody>
          <a:bodyPr wrap="square" lIns="0" tIns="0" rIns="0" bIns="0" rtlCol="0" anchor="t"/>
          <a:lstStyle/>
          <a:p>
            <a:pPr indent="0" marL="0">
              <a:spcBef>
                <a:spcPts val="200"/>
              </a:spcBef>
              <a:buNone/>
            </a:pPr>
            <a:r>
              <a:rPr lang="en-US" sz="1300" b="1" dirty="0">
                <a:solidFill>
                  <a:srgbClr val="FAFAFA"/>
                </a:solidFill>
                <a:latin typeface="Inter" pitchFamily="34" charset="0"/>
                <a:ea typeface="Inter" pitchFamily="34" charset="-122"/>
                <a:cs typeface="Inter" pitchFamily="34" charset="-120"/>
              </a:rPr>
              <a:t>Panel</a:t>
            </a:r>
            <a:endParaRPr lang="en-US" sz="1300" dirty="0"/>
          </a:p>
          <a:p>
            <a:pPr indent="0" marL="0">
              <a:spcBef>
                <a:spcPts val="200"/>
              </a:spcBef>
              <a:buNone/>
            </a:pPr>
            <a:r>
              <a:rPr lang="en-US" sz="1200" dirty="0">
                <a:solidFill>
                  <a:srgbClr val="34D399"/>
                </a:solidFill>
                <a:latin typeface="Inter" pitchFamily="34" charset="0"/>
                <a:ea typeface="Inter" pitchFamily="34" charset="-122"/>
                <a:cs typeface="Inter" pitchFamily="34" charset="-120"/>
              </a:rPr>
              <a:t>#0D0D0D</a:t>
            </a:r>
            <a:endParaRPr lang="en-US" sz="1300" dirty="0"/>
          </a:p>
          <a:p>
            <a:pPr indent="0" marL="0">
              <a:spcBef>
                <a:spcPts val="200"/>
              </a:spcBef>
              <a:buNone/>
            </a:pPr>
            <a:r>
              <a:rPr lang="en-US" sz="950" dirty="0">
                <a:solidFill>
                  <a:srgbClr val="A1A1AA"/>
                </a:solidFill>
                <a:latin typeface="Inter" pitchFamily="34" charset="0"/>
                <a:ea typeface="Inter" pitchFamily="34" charset="-122"/>
                <a:cs typeface="Inter" pitchFamily="34" charset="-120"/>
              </a:rPr>
              <a:t>--card 0 0% 5%</a:t>
            </a:r>
            <a:endParaRPr lang="en-US" sz="1300" dirty="0"/>
          </a:p>
        </p:txBody>
      </p:sp>
      <p:sp>
        <p:nvSpPr>
          <p:cNvPr id="8" name="Shape 6"/>
          <p:cNvSpPr/>
          <p:nvPr/>
        </p:nvSpPr>
        <p:spPr>
          <a:xfrm>
            <a:off x="5117592" y="1828800"/>
            <a:ext cx="1956816" cy="914400"/>
          </a:xfrm>
          <a:prstGeom prst="rect">
            <a:avLst/>
          </a:prstGeom>
          <a:solidFill>
            <a:srgbClr val="292929"/>
          </a:solidFill>
          <a:ln w="9525">
            <a:solidFill>
              <a:srgbClr val="3F3F46"/>
            </a:solidFill>
            <a:prstDash val="solid"/>
          </a:ln>
        </p:spPr>
      </p:sp>
      <p:sp>
        <p:nvSpPr>
          <p:cNvPr id="9" name="Text 7"/>
          <p:cNvSpPr/>
          <p:nvPr/>
        </p:nvSpPr>
        <p:spPr>
          <a:xfrm>
            <a:off x="5117592" y="2834640"/>
            <a:ext cx="1956816" cy="762000"/>
          </a:xfrm>
          <a:prstGeom prst="rect">
            <a:avLst/>
          </a:prstGeom>
          <a:noFill/>
          <a:ln/>
        </p:spPr>
        <p:txBody>
          <a:bodyPr wrap="square" lIns="0" tIns="0" rIns="0" bIns="0" rtlCol="0" anchor="t"/>
          <a:lstStyle/>
          <a:p>
            <a:pPr indent="0" marL="0">
              <a:spcBef>
                <a:spcPts val="200"/>
              </a:spcBef>
              <a:buNone/>
            </a:pPr>
            <a:r>
              <a:rPr lang="en-US" sz="1300" b="1" dirty="0">
                <a:solidFill>
                  <a:srgbClr val="FAFAFA"/>
                </a:solidFill>
                <a:latin typeface="Inter" pitchFamily="34" charset="0"/>
                <a:ea typeface="Inter" pitchFamily="34" charset="-122"/>
                <a:cs typeface="Inter" pitchFamily="34" charset="-120"/>
              </a:rPr>
              <a:t>Hairline</a:t>
            </a:r>
            <a:endParaRPr lang="en-US" sz="1300" dirty="0"/>
          </a:p>
          <a:p>
            <a:pPr indent="0" marL="0">
              <a:spcBef>
                <a:spcPts val="200"/>
              </a:spcBef>
              <a:buNone/>
            </a:pPr>
            <a:r>
              <a:rPr lang="en-US" sz="1200" dirty="0">
                <a:solidFill>
                  <a:srgbClr val="34D399"/>
                </a:solidFill>
                <a:latin typeface="Inter" pitchFamily="34" charset="0"/>
                <a:ea typeface="Inter" pitchFamily="34" charset="-122"/>
                <a:cs typeface="Inter" pitchFamily="34" charset="-120"/>
              </a:rPr>
              <a:t>#292929</a:t>
            </a:r>
            <a:endParaRPr lang="en-US" sz="1300" dirty="0"/>
          </a:p>
          <a:p>
            <a:pPr indent="0" marL="0">
              <a:spcBef>
                <a:spcPts val="200"/>
              </a:spcBef>
              <a:buNone/>
            </a:pPr>
            <a:r>
              <a:rPr lang="en-US" sz="950" dirty="0">
                <a:solidFill>
                  <a:srgbClr val="A1A1AA"/>
                </a:solidFill>
                <a:latin typeface="Inter" pitchFamily="34" charset="0"/>
                <a:ea typeface="Inter" pitchFamily="34" charset="-122"/>
                <a:cs typeface="Inter" pitchFamily="34" charset="-120"/>
              </a:rPr>
              <a:t>--border 0 0% 16%</a:t>
            </a:r>
            <a:endParaRPr lang="en-US" sz="1300" dirty="0"/>
          </a:p>
        </p:txBody>
      </p:sp>
      <p:sp>
        <p:nvSpPr>
          <p:cNvPr id="10" name="Shape 8"/>
          <p:cNvSpPr/>
          <p:nvPr/>
        </p:nvSpPr>
        <p:spPr>
          <a:xfrm>
            <a:off x="7257288" y="1828800"/>
            <a:ext cx="1956816" cy="914400"/>
          </a:xfrm>
          <a:prstGeom prst="rect">
            <a:avLst/>
          </a:prstGeom>
          <a:solidFill>
            <a:srgbClr val="FAFAFA"/>
          </a:solidFill>
          <a:ln w="9525">
            <a:solidFill>
              <a:srgbClr val="FAFAFA"/>
            </a:solidFill>
            <a:prstDash val="solid"/>
          </a:ln>
        </p:spPr>
      </p:sp>
      <p:sp>
        <p:nvSpPr>
          <p:cNvPr id="11" name="Text 9"/>
          <p:cNvSpPr/>
          <p:nvPr/>
        </p:nvSpPr>
        <p:spPr>
          <a:xfrm>
            <a:off x="7257288" y="2834640"/>
            <a:ext cx="1956816" cy="762000"/>
          </a:xfrm>
          <a:prstGeom prst="rect">
            <a:avLst/>
          </a:prstGeom>
          <a:noFill/>
          <a:ln/>
        </p:spPr>
        <p:txBody>
          <a:bodyPr wrap="square" lIns="0" tIns="0" rIns="0" bIns="0" rtlCol="0" anchor="t"/>
          <a:lstStyle/>
          <a:p>
            <a:pPr indent="0" marL="0">
              <a:spcBef>
                <a:spcPts val="200"/>
              </a:spcBef>
              <a:buNone/>
            </a:pPr>
            <a:r>
              <a:rPr lang="en-US" sz="1300" b="1" dirty="0">
                <a:solidFill>
                  <a:srgbClr val="FAFAFA"/>
                </a:solidFill>
                <a:latin typeface="Inter" pitchFamily="34" charset="0"/>
                <a:ea typeface="Inter" pitchFamily="34" charset="-122"/>
                <a:cs typeface="Inter" pitchFamily="34" charset="-120"/>
              </a:rPr>
              <a:t>Paper</a:t>
            </a:r>
            <a:endParaRPr lang="en-US" sz="1300" dirty="0"/>
          </a:p>
          <a:p>
            <a:pPr indent="0" marL="0">
              <a:spcBef>
                <a:spcPts val="200"/>
              </a:spcBef>
              <a:buNone/>
            </a:pPr>
            <a:r>
              <a:rPr lang="en-US" sz="1200" dirty="0">
                <a:solidFill>
                  <a:srgbClr val="34D399"/>
                </a:solidFill>
                <a:latin typeface="Inter" pitchFamily="34" charset="0"/>
                <a:ea typeface="Inter" pitchFamily="34" charset="-122"/>
                <a:cs typeface="Inter" pitchFamily="34" charset="-120"/>
              </a:rPr>
              <a:t>#FAFAFA</a:t>
            </a:r>
            <a:endParaRPr lang="en-US" sz="1300" dirty="0"/>
          </a:p>
          <a:p>
            <a:pPr indent="0" marL="0">
              <a:spcBef>
                <a:spcPts val="200"/>
              </a:spcBef>
              <a:buNone/>
            </a:pPr>
            <a:r>
              <a:rPr lang="en-US" sz="950" dirty="0">
                <a:solidFill>
                  <a:srgbClr val="A1A1AA"/>
                </a:solidFill>
                <a:latin typeface="Inter" pitchFamily="34" charset="0"/>
                <a:ea typeface="Inter" pitchFamily="34" charset="-122"/>
                <a:cs typeface="Inter" pitchFamily="34" charset="-120"/>
              </a:rPr>
              <a:t>--foreground 0 0% 98%</a:t>
            </a:r>
            <a:endParaRPr lang="en-US" sz="1300" dirty="0"/>
          </a:p>
        </p:txBody>
      </p:sp>
      <p:sp>
        <p:nvSpPr>
          <p:cNvPr id="12" name="Shape 10"/>
          <p:cNvSpPr/>
          <p:nvPr/>
        </p:nvSpPr>
        <p:spPr>
          <a:xfrm>
            <a:off x="9396984" y="1828800"/>
            <a:ext cx="1956816" cy="914400"/>
          </a:xfrm>
          <a:prstGeom prst="rect">
            <a:avLst/>
          </a:prstGeom>
          <a:solidFill>
            <a:srgbClr val="A1A1AA"/>
          </a:solidFill>
          <a:ln w="9525">
            <a:solidFill>
              <a:srgbClr val="A1A1AA"/>
            </a:solidFill>
            <a:prstDash val="solid"/>
          </a:ln>
        </p:spPr>
      </p:sp>
      <p:sp>
        <p:nvSpPr>
          <p:cNvPr id="13" name="Text 11"/>
          <p:cNvSpPr/>
          <p:nvPr/>
        </p:nvSpPr>
        <p:spPr>
          <a:xfrm>
            <a:off x="9396984" y="2834640"/>
            <a:ext cx="1956816" cy="762000"/>
          </a:xfrm>
          <a:prstGeom prst="rect">
            <a:avLst/>
          </a:prstGeom>
          <a:noFill/>
          <a:ln/>
        </p:spPr>
        <p:txBody>
          <a:bodyPr wrap="square" lIns="0" tIns="0" rIns="0" bIns="0" rtlCol="0" anchor="t"/>
          <a:lstStyle/>
          <a:p>
            <a:pPr indent="0" marL="0">
              <a:spcBef>
                <a:spcPts val="200"/>
              </a:spcBef>
              <a:buNone/>
            </a:pPr>
            <a:r>
              <a:rPr lang="en-US" sz="1300" b="1" dirty="0">
                <a:solidFill>
                  <a:srgbClr val="FAFAFA"/>
                </a:solidFill>
                <a:latin typeface="Inter" pitchFamily="34" charset="0"/>
                <a:ea typeface="Inter" pitchFamily="34" charset="-122"/>
                <a:cs typeface="Inter" pitchFamily="34" charset="-120"/>
              </a:rPr>
              <a:t>Zinc</a:t>
            </a:r>
            <a:endParaRPr lang="en-US" sz="1300" dirty="0"/>
          </a:p>
          <a:p>
            <a:pPr indent="0" marL="0">
              <a:spcBef>
                <a:spcPts val="200"/>
              </a:spcBef>
              <a:buNone/>
            </a:pPr>
            <a:r>
              <a:rPr lang="en-US" sz="1200" dirty="0">
                <a:solidFill>
                  <a:srgbClr val="34D399"/>
                </a:solidFill>
                <a:latin typeface="Inter" pitchFamily="34" charset="0"/>
                <a:ea typeface="Inter" pitchFamily="34" charset="-122"/>
                <a:cs typeface="Inter" pitchFamily="34" charset="-120"/>
              </a:rPr>
              <a:t>#A1A1AA</a:t>
            </a:r>
            <a:endParaRPr lang="en-US" sz="1300" dirty="0"/>
          </a:p>
          <a:p>
            <a:pPr indent="0" marL="0">
              <a:spcBef>
                <a:spcPts val="200"/>
              </a:spcBef>
              <a:buNone/>
            </a:pPr>
            <a:r>
              <a:rPr lang="en-US" sz="950" dirty="0">
                <a:solidFill>
                  <a:srgbClr val="A1A1AA"/>
                </a:solidFill>
                <a:latin typeface="Inter" pitchFamily="34" charset="0"/>
                <a:ea typeface="Inter" pitchFamily="34" charset="-122"/>
                <a:cs typeface="Inter" pitchFamily="34" charset="-120"/>
              </a:rPr>
              <a:t>.p3-brand-title-sub (zinc-400)</a:t>
            </a:r>
            <a:endParaRPr lang="en-US" sz="1300" dirty="0"/>
          </a:p>
        </p:txBody>
      </p:sp>
      <p:sp>
        <p:nvSpPr>
          <p:cNvPr id="14" name="Shape 12"/>
          <p:cNvSpPr/>
          <p:nvPr/>
        </p:nvSpPr>
        <p:spPr>
          <a:xfrm>
            <a:off x="838200" y="3733800"/>
            <a:ext cx="1956816" cy="914400"/>
          </a:xfrm>
          <a:prstGeom prst="rect">
            <a:avLst/>
          </a:prstGeom>
          <a:solidFill>
            <a:srgbClr val="D4D4D8"/>
          </a:solidFill>
          <a:ln w="9525">
            <a:solidFill>
              <a:srgbClr val="D4D4D8"/>
            </a:solidFill>
            <a:prstDash val="solid"/>
          </a:ln>
        </p:spPr>
      </p:sp>
      <p:sp>
        <p:nvSpPr>
          <p:cNvPr id="15" name="Text 13"/>
          <p:cNvSpPr/>
          <p:nvPr/>
        </p:nvSpPr>
        <p:spPr>
          <a:xfrm>
            <a:off x="838200" y="4739640"/>
            <a:ext cx="1956816" cy="762000"/>
          </a:xfrm>
          <a:prstGeom prst="rect">
            <a:avLst/>
          </a:prstGeom>
          <a:noFill/>
          <a:ln/>
        </p:spPr>
        <p:txBody>
          <a:bodyPr wrap="square" lIns="0" tIns="0" rIns="0" bIns="0" rtlCol="0" anchor="t"/>
          <a:lstStyle/>
          <a:p>
            <a:pPr indent="0" marL="0">
              <a:spcBef>
                <a:spcPts val="200"/>
              </a:spcBef>
              <a:buNone/>
            </a:pPr>
            <a:r>
              <a:rPr lang="en-US" sz="1300" b="1" dirty="0">
                <a:solidFill>
                  <a:srgbClr val="FAFAFA"/>
                </a:solidFill>
                <a:latin typeface="Inter" pitchFamily="34" charset="0"/>
                <a:ea typeface="Inter" pitchFamily="34" charset="-122"/>
                <a:cs typeface="Inter" pitchFamily="34" charset="-120"/>
              </a:rPr>
              <a:t>Zinc light</a:t>
            </a:r>
            <a:endParaRPr lang="en-US" sz="1300" dirty="0"/>
          </a:p>
          <a:p>
            <a:pPr indent="0" marL="0">
              <a:spcBef>
                <a:spcPts val="200"/>
              </a:spcBef>
              <a:buNone/>
            </a:pPr>
            <a:r>
              <a:rPr lang="en-US" sz="1200" dirty="0">
                <a:solidFill>
                  <a:srgbClr val="34D399"/>
                </a:solidFill>
                <a:latin typeface="Inter" pitchFamily="34" charset="0"/>
                <a:ea typeface="Inter" pitchFamily="34" charset="-122"/>
                <a:cs typeface="Inter" pitchFamily="34" charset="-120"/>
              </a:rPr>
              <a:t>#D4D4D8</a:t>
            </a:r>
            <a:endParaRPr lang="en-US" sz="1300" dirty="0"/>
          </a:p>
          <a:p>
            <a:pPr indent="0" marL="0">
              <a:spcBef>
                <a:spcPts val="200"/>
              </a:spcBef>
              <a:buNone/>
            </a:pPr>
            <a:r>
              <a:rPr lang="en-US" sz="950" dirty="0">
                <a:solidFill>
                  <a:srgbClr val="A1A1AA"/>
                </a:solidFill>
                <a:latin typeface="Inter" pitchFamily="34" charset="0"/>
                <a:ea typeface="Inter" pitchFamily="34" charset="-122"/>
                <a:cs typeface="Inter" pitchFamily="34" charset="-120"/>
              </a:rPr>
              <a:t>--p3-essay-subtitle-color (zinc-300)</a:t>
            </a:r>
            <a:endParaRPr lang="en-US" sz="1300" dirty="0"/>
          </a:p>
        </p:txBody>
      </p:sp>
      <p:sp>
        <p:nvSpPr>
          <p:cNvPr id="16" name="Shape 14"/>
          <p:cNvSpPr/>
          <p:nvPr/>
        </p:nvSpPr>
        <p:spPr>
          <a:xfrm>
            <a:off x="2977896" y="3733800"/>
            <a:ext cx="1956816" cy="914400"/>
          </a:xfrm>
          <a:prstGeom prst="rect">
            <a:avLst/>
          </a:prstGeom>
          <a:solidFill>
            <a:srgbClr val="10B981"/>
          </a:solidFill>
          <a:ln w="9525">
            <a:solidFill>
              <a:srgbClr val="10B981"/>
            </a:solidFill>
            <a:prstDash val="solid"/>
          </a:ln>
        </p:spPr>
      </p:sp>
      <p:sp>
        <p:nvSpPr>
          <p:cNvPr id="17" name="Text 15"/>
          <p:cNvSpPr/>
          <p:nvPr/>
        </p:nvSpPr>
        <p:spPr>
          <a:xfrm>
            <a:off x="2977896" y="4739640"/>
            <a:ext cx="1956816" cy="762000"/>
          </a:xfrm>
          <a:prstGeom prst="rect">
            <a:avLst/>
          </a:prstGeom>
          <a:noFill/>
          <a:ln/>
        </p:spPr>
        <p:txBody>
          <a:bodyPr wrap="square" lIns="0" tIns="0" rIns="0" bIns="0" rtlCol="0" anchor="t"/>
          <a:lstStyle/>
          <a:p>
            <a:pPr indent="0" marL="0">
              <a:spcBef>
                <a:spcPts val="200"/>
              </a:spcBef>
              <a:buNone/>
            </a:pPr>
            <a:r>
              <a:rPr lang="en-US" sz="1300" b="1" dirty="0">
                <a:solidFill>
                  <a:srgbClr val="FAFAFA"/>
                </a:solidFill>
                <a:latin typeface="Inter" pitchFamily="34" charset="0"/>
                <a:ea typeface="Inter" pitchFamily="34" charset="-122"/>
                <a:cs typeface="Inter" pitchFamily="34" charset="-120"/>
              </a:rPr>
              <a:t>Pop green</a:t>
            </a:r>
            <a:endParaRPr lang="en-US" sz="1300" dirty="0"/>
          </a:p>
          <a:p>
            <a:pPr indent="0" marL="0">
              <a:spcBef>
                <a:spcPts val="200"/>
              </a:spcBef>
              <a:buNone/>
            </a:pPr>
            <a:r>
              <a:rPr lang="en-US" sz="1200" dirty="0">
                <a:solidFill>
                  <a:srgbClr val="34D399"/>
                </a:solidFill>
                <a:latin typeface="Inter" pitchFamily="34" charset="0"/>
                <a:ea typeface="Inter" pitchFamily="34" charset="-122"/>
                <a:cs typeface="Inter" pitchFamily="34" charset="-120"/>
              </a:rPr>
              <a:t>#10B981</a:t>
            </a:r>
            <a:endParaRPr lang="en-US" sz="1300" dirty="0"/>
          </a:p>
          <a:p>
            <a:pPr indent="0" marL="0">
              <a:spcBef>
                <a:spcPts val="200"/>
              </a:spcBef>
              <a:buNone/>
            </a:pPr>
            <a:r>
              <a:rPr lang="en-US" sz="950" dirty="0">
                <a:solidFill>
                  <a:srgbClr val="A1A1AA"/>
                </a:solidFill>
                <a:latin typeface="Inter" pitchFamily="34" charset="0"/>
                <a:ea typeface="Inter" pitchFamily="34" charset="-122"/>
                <a:cs typeface="Inter" pitchFamily="34" charset="-120"/>
              </a:rPr>
              <a:t>--color-pop-green / --primary</a:t>
            </a:r>
            <a:endParaRPr lang="en-US" sz="1300" dirty="0"/>
          </a:p>
        </p:txBody>
      </p:sp>
      <p:sp>
        <p:nvSpPr>
          <p:cNvPr id="18" name="Shape 16"/>
          <p:cNvSpPr/>
          <p:nvPr/>
        </p:nvSpPr>
        <p:spPr>
          <a:xfrm>
            <a:off x="5117592" y="3733800"/>
            <a:ext cx="1956816" cy="914400"/>
          </a:xfrm>
          <a:prstGeom prst="rect">
            <a:avLst/>
          </a:prstGeom>
          <a:solidFill>
            <a:srgbClr val="34D399"/>
          </a:solidFill>
          <a:ln w="9525">
            <a:solidFill>
              <a:srgbClr val="34D399"/>
            </a:solidFill>
            <a:prstDash val="solid"/>
          </a:ln>
        </p:spPr>
      </p:sp>
      <p:sp>
        <p:nvSpPr>
          <p:cNvPr id="19" name="Text 17"/>
          <p:cNvSpPr/>
          <p:nvPr/>
        </p:nvSpPr>
        <p:spPr>
          <a:xfrm>
            <a:off x="5117592" y="4739640"/>
            <a:ext cx="1956816" cy="762000"/>
          </a:xfrm>
          <a:prstGeom prst="rect">
            <a:avLst/>
          </a:prstGeom>
          <a:noFill/>
          <a:ln/>
        </p:spPr>
        <p:txBody>
          <a:bodyPr wrap="square" lIns="0" tIns="0" rIns="0" bIns="0" rtlCol="0" anchor="t"/>
          <a:lstStyle/>
          <a:p>
            <a:pPr indent="0" marL="0">
              <a:spcBef>
                <a:spcPts val="200"/>
              </a:spcBef>
              <a:buNone/>
            </a:pPr>
            <a:r>
              <a:rPr lang="en-US" sz="1300" b="1" dirty="0">
                <a:solidFill>
                  <a:srgbClr val="FAFAFA"/>
                </a:solidFill>
                <a:latin typeface="Inter" pitchFamily="34" charset="0"/>
                <a:ea typeface="Inter" pitchFamily="34" charset="-122"/>
                <a:cs typeface="Inter" pitchFamily="34" charset="-120"/>
              </a:rPr>
              <a:t>Tagline green</a:t>
            </a:r>
            <a:endParaRPr lang="en-US" sz="1300" dirty="0"/>
          </a:p>
          <a:p>
            <a:pPr indent="0" marL="0">
              <a:spcBef>
                <a:spcPts val="200"/>
              </a:spcBef>
              <a:buNone/>
            </a:pPr>
            <a:r>
              <a:rPr lang="en-US" sz="1200" dirty="0">
                <a:solidFill>
                  <a:srgbClr val="34D399"/>
                </a:solidFill>
                <a:latin typeface="Inter" pitchFamily="34" charset="0"/>
                <a:ea typeface="Inter" pitchFamily="34" charset="-122"/>
                <a:cs typeface="Inter" pitchFamily="34" charset="-120"/>
              </a:rPr>
              <a:t>#34D399</a:t>
            </a:r>
            <a:endParaRPr lang="en-US" sz="1300" dirty="0"/>
          </a:p>
          <a:p>
            <a:pPr indent="0" marL="0">
              <a:spcBef>
                <a:spcPts val="200"/>
              </a:spcBef>
              <a:buNone/>
            </a:pPr>
            <a:r>
              <a:rPr lang="en-US" sz="950" dirty="0">
                <a:solidFill>
                  <a:srgbClr val="A1A1AA"/>
                </a:solidFill>
                <a:latin typeface="Inter" pitchFamily="34" charset="0"/>
                <a:ea typeface="Inter" pitchFamily="34" charset="-122"/>
                <a:cs typeface="Inter" pitchFamily="34" charset="-120"/>
              </a:rPr>
              <a:t>.p3-brand-tagline, link hover</a:t>
            </a:r>
            <a:endParaRPr lang="en-US" sz="1300" dirty="0"/>
          </a:p>
        </p:txBody>
      </p:sp>
      <p:sp>
        <p:nvSpPr>
          <p:cNvPr id="20" name="Shape 18"/>
          <p:cNvSpPr/>
          <p:nvPr/>
        </p:nvSpPr>
        <p:spPr>
          <a:xfrm>
            <a:off x="7257288" y="3733800"/>
            <a:ext cx="1956816" cy="914400"/>
          </a:xfrm>
          <a:prstGeom prst="rect">
            <a:avLst/>
          </a:prstGeom>
          <a:solidFill>
            <a:srgbClr val="6EE7B7"/>
          </a:solidFill>
          <a:ln w="9525">
            <a:solidFill>
              <a:srgbClr val="6EE7B7"/>
            </a:solidFill>
            <a:prstDash val="solid"/>
          </a:ln>
        </p:spPr>
      </p:sp>
      <p:sp>
        <p:nvSpPr>
          <p:cNvPr id="21" name="Text 19"/>
          <p:cNvSpPr/>
          <p:nvPr/>
        </p:nvSpPr>
        <p:spPr>
          <a:xfrm>
            <a:off x="7257288" y="4739640"/>
            <a:ext cx="1956816" cy="762000"/>
          </a:xfrm>
          <a:prstGeom prst="rect">
            <a:avLst/>
          </a:prstGeom>
          <a:noFill/>
          <a:ln/>
        </p:spPr>
        <p:txBody>
          <a:bodyPr wrap="square" lIns="0" tIns="0" rIns="0" bIns="0" rtlCol="0" anchor="t"/>
          <a:lstStyle/>
          <a:p>
            <a:pPr indent="0" marL="0">
              <a:spcBef>
                <a:spcPts val="200"/>
              </a:spcBef>
              <a:buNone/>
            </a:pPr>
            <a:r>
              <a:rPr lang="en-US" sz="1300" b="1" dirty="0">
                <a:solidFill>
                  <a:srgbClr val="FAFAFA"/>
                </a:solidFill>
                <a:latin typeface="Inter" pitchFamily="34" charset="0"/>
                <a:ea typeface="Inter" pitchFamily="34" charset="-122"/>
                <a:cs typeface="Inter" pitchFamily="34" charset="-120"/>
              </a:rPr>
              <a:t>Mint</a:t>
            </a:r>
            <a:endParaRPr lang="en-US" sz="1300" dirty="0"/>
          </a:p>
          <a:p>
            <a:pPr indent="0" marL="0">
              <a:spcBef>
                <a:spcPts val="200"/>
              </a:spcBef>
              <a:buNone/>
            </a:pPr>
            <a:r>
              <a:rPr lang="en-US" sz="1200" dirty="0">
                <a:solidFill>
                  <a:srgbClr val="34D399"/>
                </a:solidFill>
                <a:latin typeface="Inter" pitchFamily="34" charset="0"/>
                <a:ea typeface="Inter" pitchFamily="34" charset="-122"/>
                <a:cs typeface="Inter" pitchFamily="34" charset="-120"/>
              </a:rPr>
              <a:t>#6EE7B7</a:t>
            </a:r>
            <a:endParaRPr lang="en-US" sz="1300" dirty="0"/>
          </a:p>
          <a:p>
            <a:pPr indent="0" marL="0">
              <a:spcBef>
                <a:spcPts val="200"/>
              </a:spcBef>
              <a:buNone/>
            </a:pPr>
            <a:r>
              <a:rPr lang="en-US" sz="950" dirty="0">
                <a:solidFill>
                  <a:srgbClr val="A1A1AA"/>
                </a:solidFill>
                <a:latin typeface="Inter" pitchFamily="34" charset="0"/>
                <a:ea typeface="Inter" pitchFamily="34" charset="-122"/>
                <a:cs typeface="Inter" pitchFamily="34" charset="-120"/>
              </a:rPr>
              <a:t>brand-sub hover</a:t>
            </a:r>
            <a:endParaRPr lang="en-US" sz="1300" dirty="0"/>
          </a:p>
        </p:txBody>
      </p:sp>
      <p:sp>
        <p:nvSpPr>
          <p:cNvPr id="22" name="Shape 20"/>
          <p:cNvSpPr/>
          <p:nvPr/>
        </p:nvSpPr>
        <p:spPr>
          <a:xfrm>
            <a:off x="9396984" y="3733800"/>
            <a:ext cx="1956816" cy="914400"/>
          </a:xfrm>
          <a:prstGeom prst="rect">
            <a:avLst/>
          </a:prstGeom>
          <a:solidFill>
            <a:srgbClr val="059669"/>
          </a:solidFill>
          <a:ln w="9525">
            <a:solidFill>
              <a:srgbClr val="059669"/>
            </a:solidFill>
            <a:prstDash val="solid"/>
          </a:ln>
        </p:spPr>
      </p:sp>
      <p:sp>
        <p:nvSpPr>
          <p:cNvPr id="23" name="Text 21"/>
          <p:cNvSpPr/>
          <p:nvPr/>
        </p:nvSpPr>
        <p:spPr>
          <a:xfrm>
            <a:off x="9396984" y="4739640"/>
            <a:ext cx="1956816" cy="762000"/>
          </a:xfrm>
          <a:prstGeom prst="rect">
            <a:avLst/>
          </a:prstGeom>
          <a:noFill/>
          <a:ln/>
        </p:spPr>
        <p:txBody>
          <a:bodyPr wrap="square" lIns="0" tIns="0" rIns="0" bIns="0" rtlCol="0" anchor="t"/>
          <a:lstStyle/>
          <a:p>
            <a:pPr indent="0" marL="0">
              <a:spcBef>
                <a:spcPts val="200"/>
              </a:spcBef>
              <a:buNone/>
            </a:pPr>
            <a:r>
              <a:rPr lang="en-US" sz="1300" b="1" dirty="0">
                <a:solidFill>
                  <a:srgbClr val="FAFAFA"/>
                </a:solidFill>
                <a:latin typeface="Inter" pitchFamily="34" charset="0"/>
                <a:ea typeface="Inter" pitchFamily="34" charset="-122"/>
                <a:cs typeface="Inter" pitchFamily="34" charset="-120"/>
              </a:rPr>
              <a:t>Green on light</a:t>
            </a:r>
            <a:endParaRPr lang="en-US" sz="1300" dirty="0"/>
          </a:p>
          <a:p>
            <a:pPr indent="0" marL="0">
              <a:spcBef>
                <a:spcPts val="200"/>
              </a:spcBef>
              <a:buNone/>
            </a:pPr>
            <a:r>
              <a:rPr lang="en-US" sz="1200" dirty="0">
                <a:solidFill>
                  <a:srgbClr val="34D399"/>
                </a:solidFill>
                <a:latin typeface="Inter" pitchFamily="34" charset="0"/>
                <a:ea typeface="Inter" pitchFamily="34" charset="-122"/>
                <a:cs typeface="Inter" pitchFamily="34" charset="-120"/>
              </a:rPr>
              <a:t>#059669</a:t>
            </a:r>
            <a:endParaRPr lang="en-US" sz="1300" dirty="0"/>
          </a:p>
          <a:p>
            <a:pPr indent="0" marL="0">
              <a:spcBef>
                <a:spcPts val="200"/>
              </a:spcBef>
              <a:buNone/>
            </a:pPr>
            <a:r>
              <a:rPr lang="en-US" sz="950" dirty="0">
                <a:solidFill>
                  <a:srgbClr val="A1A1AA"/>
                </a:solidFill>
                <a:latin typeface="Inter" pitchFamily="34" charset="0"/>
                <a:ea typeface="Inter" pitchFamily="34" charset="-122"/>
                <a:cs typeface="Inter" pitchFamily="34" charset="-120"/>
              </a:rPr>
              <a:t>light-ground variant (added)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8200" y="731520"/>
            <a:ext cx="105156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TYPE</a:t>
            </a:r>
            <a:endParaRPr lang="en-US" sz="1020" dirty="0"/>
          </a:p>
        </p:txBody>
      </p:sp>
      <p:sp>
        <p:nvSpPr>
          <p:cNvPr id="3" name="Text 1"/>
          <p:cNvSpPr/>
          <p:nvPr/>
        </p:nvSpPr>
        <p:spPr>
          <a:xfrm>
            <a:off x="838200" y="1066800"/>
            <a:ext cx="6858000" cy="685800"/>
          </a:xfrm>
          <a:prstGeom prst="rect">
            <a:avLst/>
          </a:prstGeom>
          <a:noFill/>
          <a:ln/>
        </p:spPr>
        <p:txBody>
          <a:bodyPr wrap="square" lIns="0" tIns="0" rIns="0" bIns="0" rtlCol="0" anchor="t"/>
          <a:lstStyle/>
          <a:p>
            <a:pPr indent="0" marL="0">
              <a:buNone/>
            </a:pPr>
            <a:r>
              <a:rPr lang="en-US" sz="5000" b="1" spc="-100" kern="0" dirty="0">
                <a:solidFill>
                  <a:srgbClr val="FFFFFF"/>
                </a:solidFill>
                <a:latin typeface="Inter" pitchFamily="34" charset="0"/>
                <a:ea typeface="Inter" pitchFamily="34" charset="-122"/>
                <a:cs typeface="Inter" pitchFamily="34" charset="-120"/>
              </a:rPr>
              <a:t>ARGONAUT </a:t>
            </a:r>
            <a:r>
              <a:rPr lang="en-US" sz="5000" spc="300" kern="0" dirty="0">
                <a:solidFill>
                  <a:srgbClr val="A1A1AA"/>
                </a:solidFill>
                <a:latin typeface="Inter" pitchFamily="34" charset="0"/>
                <a:ea typeface="Inter" pitchFamily="34" charset="-122"/>
                <a:cs typeface="Inter" pitchFamily="34" charset="-120"/>
              </a:rPr>
              <a:t>AGENTIC</a:t>
            </a:r>
            <a:endParaRPr lang="en-US" sz="5000" dirty="0"/>
          </a:p>
        </p:txBody>
      </p:sp>
      <p:sp>
        <p:nvSpPr>
          <p:cNvPr id="4" name="Text 2"/>
          <p:cNvSpPr/>
          <p:nvPr/>
        </p:nvSpPr>
        <p:spPr>
          <a:xfrm>
            <a:off x="838200" y="1859280"/>
            <a:ext cx="6858000" cy="228600"/>
          </a:xfrm>
          <a:prstGeom prst="rect">
            <a:avLst/>
          </a:prstGeom>
          <a:noFill/>
          <a:ln/>
        </p:spPr>
        <p:txBody>
          <a:bodyPr wrap="square" lIns="0" tIns="0" rIns="0" bIns="0" rtlCol="0" anchor="t"/>
          <a:lstStyle/>
          <a:p>
            <a:pPr indent="0" marL="0">
              <a:buNone/>
            </a:pPr>
            <a:r>
              <a:rPr lang="en-US" sz="1100" dirty="0">
                <a:solidFill>
                  <a:srgbClr val="A1A1AA"/>
                </a:solidFill>
                <a:latin typeface="Inter" pitchFamily="34" charset="0"/>
                <a:ea typeface="Inter" pitchFamily="34" charset="-122"/>
                <a:cs typeface="Inter" pitchFamily="34" charset="-120"/>
              </a:rPr>
              <a:t>Inter Bold 700 · white · tracking −0.04em     Inter Regular 400 · #A1A1AA · tracking +0.06em</a:t>
            </a:r>
            <a:endParaRPr lang="en-US" sz="1100" dirty="0"/>
          </a:p>
        </p:txBody>
      </p:sp>
      <p:sp>
        <p:nvSpPr>
          <p:cNvPr id="5" name="Text 3"/>
          <p:cNvSpPr/>
          <p:nvPr/>
        </p:nvSpPr>
        <p:spPr>
          <a:xfrm>
            <a:off x="8229600" y="1219200"/>
            <a:ext cx="3124200" cy="228600"/>
          </a:xfrm>
          <a:prstGeom prst="rect">
            <a:avLst/>
          </a:prstGeom>
          <a:noFill/>
          <a:ln/>
        </p:spPr>
        <p:txBody>
          <a:bodyPr wrap="square" lIns="0" tIns="0" rIns="0" bIns="0" rtlCol="0" anchor="t"/>
          <a:lstStyle/>
          <a:p>
            <a:pPr indent="0" marL="0">
              <a:buNone/>
            </a:pPr>
            <a:r>
              <a:rPr lang="en-US" sz="1200" b="1" spc="400" kern="0" dirty="0">
                <a:solidFill>
                  <a:srgbClr val="34D399"/>
                </a:solidFill>
                <a:latin typeface="Inter" pitchFamily="34" charset="0"/>
                <a:ea typeface="Inter" pitchFamily="34" charset="-122"/>
                <a:cs typeface="Inter" pitchFamily="34" charset="-120"/>
              </a:rPr>
              <a:t>PAYMENT UTILITY</a:t>
            </a:r>
            <a:endParaRPr lang="en-US" sz="1200" dirty="0"/>
          </a:p>
        </p:txBody>
      </p:sp>
      <p:sp>
        <p:nvSpPr>
          <p:cNvPr id="6" name="Text 4"/>
          <p:cNvSpPr/>
          <p:nvPr/>
        </p:nvSpPr>
        <p:spPr>
          <a:xfrm>
            <a:off x="8229600" y="1524000"/>
            <a:ext cx="3124200" cy="457200"/>
          </a:xfrm>
          <a:prstGeom prst="rect">
            <a:avLst/>
          </a:prstGeom>
          <a:noFill/>
          <a:ln/>
        </p:spPr>
        <p:txBody>
          <a:bodyPr wrap="square" lIns="0" tIns="0" rIns="0" bIns="0" rtlCol="0" anchor="t"/>
          <a:lstStyle/>
          <a:p>
            <a:pPr indent="0" marL="0">
              <a:buNone/>
            </a:pPr>
            <a:r>
              <a:rPr lang="en-US" sz="1100" dirty="0">
                <a:solidFill>
                  <a:srgbClr val="A1A1AA"/>
                </a:solidFill>
                <a:latin typeface="Inter" pitchFamily="34" charset="0"/>
                <a:ea typeface="Inter" pitchFamily="34" charset="-122"/>
                <a:cs typeface="Inter" pitchFamily="34" charset="-120"/>
              </a:rPr>
              <a:t>Tagline / kicker: Inter Bold, caps, tracking +0.34em, #34D399 @ 92%</a:t>
            </a:r>
            <a:endParaRPr lang="en-US" sz="1100" dirty="0"/>
          </a:p>
        </p:txBody>
      </p:sp>
      <p:sp>
        <p:nvSpPr>
          <p:cNvPr id="7" name="Shape 5"/>
          <p:cNvSpPr/>
          <p:nvPr/>
        </p:nvSpPr>
        <p:spPr>
          <a:xfrm>
            <a:off x="838200" y="2286000"/>
            <a:ext cx="10515600" cy="0"/>
          </a:xfrm>
          <a:prstGeom prst="line">
            <a:avLst/>
          </a:prstGeom>
          <a:noFill/>
          <a:ln w="9525">
            <a:solidFill>
              <a:srgbClr val="292929"/>
            </a:solidFill>
            <a:prstDash val="solid"/>
          </a:ln>
        </p:spPr>
      </p:sp>
      <p:sp>
        <p:nvSpPr>
          <p:cNvPr id="8" name="Text 6"/>
          <p:cNvSpPr/>
          <p:nvPr/>
        </p:nvSpPr>
        <p:spPr>
          <a:xfrm>
            <a:off x="838200" y="2514600"/>
            <a:ext cx="7162800" cy="533400"/>
          </a:xfrm>
          <a:prstGeom prst="rect">
            <a:avLst/>
          </a:prstGeom>
          <a:noFill/>
          <a:ln/>
        </p:spPr>
        <p:txBody>
          <a:bodyPr wrap="square" lIns="0" tIns="0" rIns="0" bIns="0" rtlCol="0" anchor="t"/>
          <a:lstStyle/>
          <a:p>
            <a:pPr indent="0" marL="0">
              <a:buNone/>
            </a:pPr>
            <a:r>
              <a:rPr lang="en-US" sz="3200" b="1" spc="-80" kern="0" dirty="0">
                <a:solidFill>
                  <a:srgbClr val="FFFFFF"/>
                </a:solidFill>
                <a:latin typeface="Inter" pitchFamily="34" charset="0"/>
                <a:ea typeface="Inter" pitchFamily="34" charset="-122"/>
                <a:cs typeface="Inter" pitchFamily="34" charset="-120"/>
              </a:rPr>
              <a:t>UBI may work like a </a:t>
            </a:r>
            <a:r>
              <a:rPr lang="en-US" sz="3200" b="1" spc="-80" kern="0" dirty="0">
                <a:solidFill>
                  <a:srgbClr val="34D399"/>
                </a:solidFill>
                <a:latin typeface="Inter" pitchFamily="34" charset="0"/>
                <a:ea typeface="Inter" pitchFamily="34" charset="-122"/>
                <a:cs typeface="Inter" pitchFamily="34" charset="-120"/>
              </a:rPr>
              <a:t>reverse</a:t>
            </a:r>
            <a:r>
              <a:rPr lang="en-US" sz="3200" b="1" spc="-80" kern="0" dirty="0">
                <a:solidFill>
                  <a:srgbClr val="FFFFFF"/>
                </a:solidFill>
                <a:latin typeface="Inter" pitchFamily="34" charset="0"/>
                <a:ea typeface="Inter" pitchFamily="34" charset="-122"/>
                <a:cs typeface="Inter" pitchFamily="34" charset="-120"/>
              </a:rPr>
              <a:t> VAT.</a:t>
            </a:r>
            <a:endParaRPr lang="en-US" sz="3200" dirty="0"/>
          </a:p>
        </p:txBody>
      </p:sp>
      <p:sp>
        <p:nvSpPr>
          <p:cNvPr id="9" name="Text 7"/>
          <p:cNvSpPr/>
          <p:nvPr/>
        </p:nvSpPr>
        <p:spPr>
          <a:xfrm>
            <a:off x="838200" y="3139440"/>
            <a:ext cx="6858000" cy="228600"/>
          </a:xfrm>
          <a:prstGeom prst="rect">
            <a:avLst/>
          </a:prstGeom>
          <a:noFill/>
          <a:ln/>
        </p:spPr>
        <p:txBody>
          <a:bodyPr wrap="square" lIns="0" tIns="0" rIns="0" bIns="0" rtlCol="0" anchor="t"/>
          <a:lstStyle/>
          <a:p>
            <a:pPr indent="0" marL="0">
              <a:buNone/>
            </a:pPr>
            <a:r>
              <a:rPr lang="en-US" sz="1100" dirty="0">
                <a:solidFill>
                  <a:srgbClr val="A1A1AA"/>
                </a:solidFill>
                <a:latin typeface="Inter" pitchFamily="34" charset="0"/>
                <a:ea typeface="Inter" pitchFamily="34" charset="-122"/>
                <a:cs typeface="Inter" pitchFamily="34" charset="-120"/>
              </a:rPr>
              <a:t>Headlines: Inter Bold, sentence case, −0.03em. Green for one word, max.</a:t>
            </a:r>
            <a:endParaRPr lang="en-US" sz="1100" dirty="0"/>
          </a:p>
        </p:txBody>
      </p:sp>
      <p:sp>
        <p:nvSpPr>
          <p:cNvPr id="10" name="Text 8"/>
          <p:cNvSpPr/>
          <p:nvPr/>
        </p:nvSpPr>
        <p:spPr>
          <a:xfrm>
            <a:off x="8229600" y="2514600"/>
            <a:ext cx="3124200" cy="838200"/>
          </a:xfrm>
          <a:prstGeom prst="rect">
            <a:avLst/>
          </a:prstGeom>
          <a:noFill/>
          <a:ln/>
        </p:spPr>
        <p:txBody>
          <a:bodyPr wrap="square" lIns="0" tIns="0" rIns="0" bIns="0" rtlCol="0" anchor="t"/>
          <a:lstStyle/>
          <a:p>
            <a:pPr indent="0" marL="0">
              <a:lnSpc>
                <a:spcPct val="130000"/>
              </a:lnSpc>
              <a:buNone/>
            </a:pPr>
            <a:r>
              <a:rPr lang="en-US" sz="1400" dirty="0">
                <a:solidFill>
                  <a:srgbClr val="A1A1AA"/>
                </a:solidFill>
                <a:latin typeface="Inter" pitchFamily="34" charset="0"/>
                <a:ea typeface="Inter" pitchFamily="34" charset="-122"/>
                <a:cs typeface="Inter" pitchFamily="34" charset="-120"/>
              </a:rPr>
              <a:t>Body: Inter Regular #A1A1AA, 1.38 leading. Keep it to two or three lines; the black does the talking.</a:t>
            </a:r>
            <a:endParaRPr lang="en-US" sz="1400" dirty="0"/>
          </a:p>
        </p:txBody>
      </p:sp>
      <p:sp>
        <p:nvSpPr>
          <p:cNvPr id="11" name="Shape 9"/>
          <p:cNvSpPr/>
          <p:nvPr/>
        </p:nvSpPr>
        <p:spPr>
          <a:xfrm>
            <a:off x="838200" y="3657600"/>
            <a:ext cx="10515600" cy="0"/>
          </a:xfrm>
          <a:prstGeom prst="line">
            <a:avLst/>
          </a:prstGeom>
          <a:noFill/>
          <a:ln w="9525">
            <a:solidFill>
              <a:srgbClr val="292929"/>
            </a:solidFill>
            <a:prstDash val="solid"/>
          </a:ln>
        </p:spPr>
      </p:sp>
      <p:pic>
        <p:nvPicPr>
          <p:cNvPr id="12" name="Image 0" descr="/workspace/slides/argonaut-agentic-2j22GJ/assets/handwriting-so-yeah.png">    </p:cNvPr>
          <p:cNvPicPr>
            <a:picLocks noChangeAspect="1"/>
          </p:cNvPicPr>
          <p:nvPr/>
        </p:nvPicPr>
        <p:blipFill>
          <a:blip r:embed="rId1"/>
          <a:stretch>
            <a:fillRect/>
          </a:stretch>
        </p:blipFill>
        <p:spPr>
          <a:xfrm>
            <a:off x="838200" y="3962400"/>
            <a:ext cx="2286000" cy="481263"/>
          </a:xfrm>
          <a:prstGeom prst="rect">
            <a:avLst/>
          </a:prstGeom>
        </p:spPr>
      </p:pic>
      <p:sp>
        <p:nvSpPr>
          <p:cNvPr id="13" name="Text 10"/>
          <p:cNvSpPr/>
          <p:nvPr/>
        </p:nvSpPr>
        <p:spPr>
          <a:xfrm>
            <a:off x="838200" y="4572000"/>
            <a:ext cx="4572000" cy="228600"/>
          </a:xfrm>
          <a:prstGeom prst="rect">
            <a:avLst/>
          </a:prstGeom>
          <a:noFill/>
          <a:ln/>
        </p:spPr>
        <p:txBody>
          <a:bodyPr wrap="square" lIns="0" tIns="0" rIns="0" bIns="0" rtlCol="0" anchor="t"/>
          <a:lstStyle/>
          <a:p>
            <a:pPr indent="0" marL="0">
              <a:buNone/>
            </a:pPr>
            <a:r>
              <a:rPr lang="en-US" sz="1100" dirty="0">
                <a:solidFill>
                  <a:srgbClr val="A1A1AA"/>
                </a:solidFill>
                <a:latin typeface="Inter" pitchFamily="34" charset="0"/>
                <a:ea typeface="Inter" pitchFamily="34" charset="-122"/>
                <a:cs typeface="Inter" pitchFamily="34" charset="-120"/>
              </a:rPr>
              <a:t>Ashit Hand · asides only, one per piece, his words</a:t>
            </a:r>
            <a:endParaRPr lang="en-US" sz="1100" dirty="0"/>
          </a:p>
        </p:txBody>
      </p:sp>
      <p:sp>
        <p:nvSpPr>
          <p:cNvPr id="14" name="Text 11"/>
          <p:cNvSpPr/>
          <p:nvPr/>
        </p:nvSpPr>
        <p:spPr>
          <a:xfrm>
            <a:off x="8229600" y="3962400"/>
            <a:ext cx="3124200" cy="609600"/>
          </a:xfrm>
          <a:prstGeom prst="rect">
            <a:avLst/>
          </a:prstGeom>
          <a:noFill/>
          <a:ln/>
        </p:spPr>
        <p:txBody>
          <a:bodyPr wrap="square" lIns="0" tIns="0" rIns="0" bIns="0" rtlCol="0" anchor="t"/>
          <a:lstStyle/>
          <a:p>
            <a:pPr indent="0" marL="0">
              <a:buNone/>
            </a:pPr>
            <a:r>
              <a:rPr lang="en-US" sz="1100" dirty="0">
                <a:solidFill>
                  <a:srgbClr val="A1A1AA"/>
                </a:solidFill>
                <a:latin typeface="Inter" pitchFamily="34" charset="0"/>
                <a:ea typeface="Inter" pitchFamily="34" charset="-122"/>
                <a:cs typeface="Inter" pitchFamily="34" charset="-120"/>
              </a:rPr>
              <a:t>AshitHand is not a Google Slides font, so handwritten bits are placed as images.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38200" y="731520"/>
            <a:ext cx="105156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CLEAR SPACE &amp; MINIMUM SIZE</a:t>
            </a:r>
            <a:endParaRPr lang="en-US" sz="1020" dirty="0"/>
          </a:p>
        </p:txBody>
      </p:sp>
      <p:sp>
        <p:nvSpPr>
          <p:cNvPr id="3" name="Text 1"/>
          <p:cNvSpPr/>
          <p:nvPr/>
        </p:nvSpPr>
        <p:spPr>
          <a:xfrm>
            <a:off x="838200" y="1021080"/>
            <a:ext cx="10515600" cy="609600"/>
          </a:xfrm>
          <a:prstGeom prst="rect">
            <a:avLst/>
          </a:prstGeom>
          <a:noFill/>
          <a:ln/>
        </p:spPr>
        <p:txBody>
          <a:bodyPr wrap="square" lIns="0" tIns="0" rIns="0" bIns="0" rtlCol="0" anchor="t"/>
          <a:lstStyle/>
          <a:p>
            <a:pPr indent="0" marL="0">
              <a:buNone/>
            </a:pPr>
            <a:r>
              <a:rPr lang="en-US" sz="3600" b="1" spc="-100" kern="0" dirty="0">
                <a:solidFill>
                  <a:srgbClr val="FFFFFF"/>
                </a:solidFill>
                <a:latin typeface="Inter" pitchFamily="34" charset="0"/>
                <a:ea typeface="Inter" pitchFamily="34" charset="-122"/>
                <a:cs typeface="Inter" pitchFamily="34" charset="-120"/>
              </a:rPr>
              <a:t>Give the ring room</a:t>
            </a:r>
            <a:endParaRPr lang="en-US" sz="3600" dirty="0"/>
          </a:p>
        </p:txBody>
      </p:sp>
      <p:sp>
        <p:nvSpPr>
          <p:cNvPr id="4" name="Shape 2"/>
          <p:cNvSpPr/>
          <p:nvPr/>
        </p:nvSpPr>
        <p:spPr>
          <a:xfrm>
            <a:off x="914400" y="1905000"/>
            <a:ext cx="6553200" cy="2043522"/>
          </a:xfrm>
          <a:prstGeom prst="rect">
            <a:avLst/>
          </a:prstGeom>
          <a:solidFill>
            <a:srgbClr val="050505">
              <a:alpha val="0"/>
            </a:srgbClr>
          </a:solidFill>
          <a:ln w="9525">
            <a:solidFill>
              <a:srgbClr val="10B981"/>
            </a:solidFill>
            <a:prstDash val="dash"/>
          </a:ln>
        </p:spPr>
      </p:sp>
      <p:pic>
        <p:nvPicPr>
          <p:cNvPr id="5" name="Image 0" descr="/workspace/brand/argonaut-agentic/logo/argonaut-agentic-horizontal-dark.png">    </p:cNvPr>
          <p:cNvPicPr>
            <a:picLocks noChangeAspect="1"/>
          </p:cNvPicPr>
          <p:nvPr/>
        </p:nvPicPr>
        <p:blipFill>
          <a:blip r:embed="rId1"/>
          <a:stretch>
            <a:fillRect/>
          </a:stretch>
        </p:blipFill>
        <p:spPr>
          <a:xfrm>
            <a:off x="1295400" y="2286000"/>
            <a:ext cx="5791200" cy="1281522"/>
          </a:xfrm>
          <a:prstGeom prst="rect">
            <a:avLst/>
          </a:prstGeom>
        </p:spPr>
      </p:pic>
      <p:sp>
        <p:nvSpPr>
          <p:cNvPr id="6" name="Text 3"/>
          <p:cNvSpPr/>
          <p:nvPr/>
        </p:nvSpPr>
        <p:spPr>
          <a:xfrm>
            <a:off x="7924800" y="1981200"/>
            <a:ext cx="3429000" cy="2286000"/>
          </a:xfrm>
          <a:prstGeom prst="rect">
            <a:avLst/>
          </a:prstGeom>
          <a:noFill/>
          <a:ln/>
        </p:spPr>
        <p:txBody>
          <a:bodyPr wrap="square" lIns="0" tIns="0" rIns="0" bIns="0" rtlCol="0" anchor="t"/>
          <a:lstStyle/>
          <a:p>
            <a:pPr indent="0" marL="0">
              <a:lnSpc>
                <a:spcPct val="125000"/>
              </a:lnSpc>
              <a:buNone/>
            </a:pPr>
            <a:r>
              <a:rPr lang="en-US" sz="1300" dirty="0">
                <a:solidFill>
                  <a:srgbClr val="D4D4D8"/>
                </a:solidFill>
                <a:latin typeface="Inter" pitchFamily="34" charset="0"/>
                <a:ea typeface="Inter" pitchFamily="34" charset="-122"/>
                <a:cs typeface="Inter" pitchFamily="34" charset="-120"/>
              </a:rPr>
              <a:t>x = ¼ of the ring's diameter. Keep x clear on all sides.</a:t>
            </a:r>
            <a:endParaRPr lang="en-US" sz="1300" dirty="0"/>
          </a:p>
          <a:p>
            <a:pPr indent="0" marL="0">
              <a:lnSpc>
                <a:spcPct val="125000"/>
              </a:lnSpc>
              <a:buNone/>
            </a:pPr>
            <a:r>
              <a:rPr lang="en-US" sz="1300" dirty="0">
                <a:solidFill>
                  <a:srgbClr val="D4D4D8"/>
                </a:solidFill>
                <a:latin typeface="Inter" pitchFamily="34" charset="0"/>
                <a:ea typeface="Inter" pitchFamily="34" charset="-122"/>
                <a:cs typeface="Inter" pitchFamily="34" charset="-120"/>
              </a:rPr>
              <a:t> </a:t>
            </a:r>
            <a:endParaRPr lang="en-US" sz="1300" dirty="0"/>
          </a:p>
          <a:p>
            <a:pPr indent="0" marL="0">
              <a:lnSpc>
                <a:spcPct val="125000"/>
              </a:lnSpc>
              <a:buNone/>
            </a:pPr>
            <a:r>
              <a:rPr lang="en-US" sz="1300" dirty="0">
                <a:solidFill>
                  <a:srgbClr val="D4D4D8"/>
                </a:solidFill>
                <a:latin typeface="Inter" pitchFamily="34" charset="0"/>
                <a:ea typeface="Inter" pitchFamily="34" charset="-122"/>
                <a:cs typeface="Inter" pitchFamily="34" charset="-120"/>
              </a:rPr>
              <a:t>Icon: min 24 px / 6 mm.</a:t>
            </a:r>
            <a:endParaRPr lang="en-US" sz="1300" dirty="0"/>
          </a:p>
          <a:p>
            <a:pPr indent="0" marL="0">
              <a:lnSpc>
                <a:spcPct val="125000"/>
              </a:lnSpc>
              <a:buNone/>
            </a:pPr>
            <a:r>
              <a:rPr lang="en-US" sz="1300" dirty="0">
                <a:solidFill>
                  <a:srgbClr val="D4D4D8"/>
                </a:solidFill>
                <a:latin typeface="Inter" pitchFamily="34" charset="0"/>
                <a:ea typeface="Inter" pitchFamily="34" charset="-122"/>
                <a:cs typeface="Inter" pitchFamily="34" charset="-120"/>
              </a:rPr>
              <a:t>Horizontal with tagline: min 320 px wide.</a:t>
            </a:r>
            <a:endParaRPr lang="en-US" sz="1300" dirty="0"/>
          </a:p>
          <a:p>
            <a:pPr indent="0" marL="0">
              <a:lnSpc>
                <a:spcPct val="125000"/>
              </a:lnSpc>
              <a:buNone/>
            </a:pPr>
            <a:r>
              <a:rPr lang="en-US" sz="1300" dirty="0">
                <a:solidFill>
                  <a:srgbClr val="D4D4D8"/>
                </a:solidFill>
                <a:latin typeface="Inter" pitchFamily="34" charset="0"/>
                <a:ea typeface="Inter" pitchFamily="34" charset="-122"/>
                <a:cs typeface="Inter" pitchFamily="34" charset="-120"/>
              </a:rPr>
              <a:t>Below 320 px drop the tagline (horizontal-notag).</a:t>
            </a:r>
            <a:endParaRPr lang="en-US" sz="1300" dirty="0"/>
          </a:p>
          <a:p>
            <a:pPr indent="0" marL="0">
              <a:lnSpc>
                <a:spcPct val="125000"/>
              </a:lnSpc>
              <a:buNone/>
            </a:pPr>
            <a:r>
              <a:rPr lang="en-US" sz="1300" dirty="0">
                <a:solidFill>
                  <a:srgbClr val="D4D4D8"/>
                </a:solidFill>
                <a:latin typeface="Inter" pitchFamily="34" charset="0"/>
                <a:ea typeface="Inter" pitchFamily="34" charset="-122"/>
                <a:cs typeface="Inter" pitchFamily="34" charset="-120"/>
              </a:rPr>
              <a:t>Never recolour the A green; green belongs to rules, taglines and one word.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38200" y="731520"/>
            <a:ext cx="105156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NAME + TAGLINE OPTIONS</a:t>
            </a:r>
            <a:endParaRPr lang="en-US" sz="1020" dirty="0"/>
          </a:p>
        </p:txBody>
      </p:sp>
      <p:sp>
        <p:nvSpPr>
          <p:cNvPr id="3" name="Text 1"/>
          <p:cNvSpPr/>
          <p:nvPr/>
        </p:nvSpPr>
        <p:spPr>
          <a:xfrm>
            <a:off x="838200" y="1219200"/>
            <a:ext cx="609600" cy="381000"/>
          </a:xfrm>
          <a:prstGeom prst="rect">
            <a:avLst/>
          </a:prstGeom>
          <a:noFill/>
          <a:ln/>
        </p:spPr>
        <p:txBody>
          <a:bodyPr wrap="square" lIns="0" tIns="0" rIns="0" bIns="0" rtlCol="0" anchor="t"/>
          <a:lstStyle/>
          <a:p>
            <a:pPr indent="0" marL="0">
              <a:buNone/>
            </a:pPr>
            <a:r>
              <a:rPr lang="en-US" sz="1400" b="1" spc="200" kern="0" dirty="0">
                <a:solidFill>
                  <a:srgbClr val="34D399"/>
                </a:solidFill>
                <a:latin typeface="Inter" pitchFamily="34" charset="0"/>
                <a:ea typeface="Inter" pitchFamily="34" charset="-122"/>
                <a:cs typeface="Inter" pitchFamily="34" charset="-120"/>
              </a:rPr>
              <a:t>01</a:t>
            </a:r>
            <a:endParaRPr lang="en-US" sz="1400" dirty="0"/>
          </a:p>
        </p:txBody>
      </p:sp>
      <p:sp>
        <p:nvSpPr>
          <p:cNvPr id="4" name="Text 2"/>
          <p:cNvSpPr/>
          <p:nvPr/>
        </p:nvSpPr>
        <p:spPr>
          <a:xfrm>
            <a:off x="1600200" y="1158240"/>
            <a:ext cx="9753600" cy="457200"/>
          </a:xfrm>
          <a:prstGeom prst="rect">
            <a:avLst/>
          </a:prstGeom>
          <a:noFill/>
          <a:ln/>
        </p:spPr>
        <p:txBody>
          <a:bodyPr wrap="square" lIns="0" tIns="0" rIns="0" bIns="0" rtlCol="0" anchor="t"/>
          <a:lstStyle/>
          <a:p>
            <a:pPr indent="0" marL="0">
              <a:buNone/>
            </a:pPr>
            <a:r>
              <a:rPr lang="en-US" sz="3000" b="1" spc="-50" kern="0" dirty="0">
                <a:solidFill>
                  <a:srgbClr val="FFFFFF"/>
                </a:solidFill>
                <a:latin typeface="Inter" pitchFamily="34" charset="0"/>
                <a:ea typeface="Inter" pitchFamily="34" charset="-122"/>
                <a:cs typeface="Inter" pitchFamily="34" charset="-120"/>
              </a:rPr>
              <a:t>Payment utility for a new Earth</a:t>
            </a:r>
            <a:endParaRPr lang="en-US" sz="3000" dirty="0"/>
          </a:p>
        </p:txBody>
      </p:sp>
      <p:sp>
        <p:nvSpPr>
          <p:cNvPr id="5" name="Text 3"/>
          <p:cNvSpPr/>
          <p:nvPr/>
        </p:nvSpPr>
        <p:spPr>
          <a:xfrm>
            <a:off x="1600200" y="1615440"/>
            <a:ext cx="9753600" cy="228600"/>
          </a:xfrm>
          <a:prstGeom prst="rect">
            <a:avLst/>
          </a:prstGeom>
          <a:noFill/>
          <a:ln/>
        </p:spPr>
        <p:txBody>
          <a:bodyPr wrap="square" lIns="0" tIns="0" rIns="0" bIns="0" rtlCol="0" anchor="t"/>
          <a:lstStyle/>
          <a:p>
            <a:pPr indent="0" marL="0">
              <a:buNone/>
            </a:pPr>
            <a:r>
              <a:rPr lang="en-US" sz="1200" dirty="0">
                <a:solidFill>
                  <a:srgbClr val="A1A1AA"/>
                </a:solidFill>
                <a:latin typeface="Inter" pitchFamily="34" charset="0"/>
                <a:ea typeface="Inter" pitchFamily="34" charset="-122"/>
                <a:cs typeface="Inter" pitchFamily="34" charset="-120"/>
              </a:rPr>
              <a:t>The tagline on the lockups.</a:t>
            </a:r>
            <a:endParaRPr lang="en-US" sz="1200" dirty="0"/>
          </a:p>
        </p:txBody>
      </p:sp>
      <p:sp>
        <p:nvSpPr>
          <p:cNvPr id="6" name="Shape 4"/>
          <p:cNvSpPr/>
          <p:nvPr/>
        </p:nvSpPr>
        <p:spPr>
          <a:xfrm>
            <a:off x="838200" y="2042160"/>
            <a:ext cx="10515600" cy="0"/>
          </a:xfrm>
          <a:prstGeom prst="line">
            <a:avLst/>
          </a:prstGeom>
          <a:noFill/>
          <a:ln w="9525">
            <a:solidFill>
              <a:srgbClr val="292929"/>
            </a:solidFill>
            <a:prstDash val="solid"/>
          </a:ln>
        </p:spPr>
      </p:sp>
      <p:sp>
        <p:nvSpPr>
          <p:cNvPr id="7" name="Text 5"/>
          <p:cNvSpPr/>
          <p:nvPr/>
        </p:nvSpPr>
        <p:spPr>
          <a:xfrm>
            <a:off x="838200" y="2247900"/>
            <a:ext cx="609600" cy="381000"/>
          </a:xfrm>
          <a:prstGeom prst="rect">
            <a:avLst/>
          </a:prstGeom>
          <a:noFill/>
          <a:ln/>
        </p:spPr>
        <p:txBody>
          <a:bodyPr wrap="square" lIns="0" tIns="0" rIns="0" bIns="0" rtlCol="0" anchor="t"/>
          <a:lstStyle/>
          <a:p>
            <a:pPr indent="0" marL="0">
              <a:buNone/>
            </a:pPr>
            <a:r>
              <a:rPr lang="en-US" sz="1400" b="1" spc="200" kern="0" dirty="0">
                <a:solidFill>
                  <a:srgbClr val="34D399"/>
                </a:solidFill>
                <a:latin typeface="Inter" pitchFamily="34" charset="0"/>
                <a:ea typeface="Inter" pitchFamily="34" charset="-122"/>
                <a:cs typeface="Inter" pitchFamily="34" charset="-120"/>
              </a:rPr>
              <a:t>02</a:t>
            </a:r>
            <a:endParaRPr lang="en-US" sz="1400" dirty="0"/>
          </a:p>
        </p:txBody>
      </p:sp>
      <p:sp>
        <p:nvSpPr>
          <p:cNvPr id="8" name="Text 6"/>
          <p:cNvSpPr/>
          <p:nvPr/>
        </p:nvSpPr>
        <p:spPr>
          <a:xfrm>
            <a:off x="1600200" y="2186940"/>
            <a:ext cx="9753600" cy="457200"/>
          </a:xfrm>
          <a:prstGeom prst="rect">
            <a:avLst/>
          </a:prstGeom>
          <a:noFill/>
          <a:ln/>
        </p:spPr>
        <p:txBody>
          <a:bodyPr wrap="square" lIns="0" tIns="0" rIns="0" bIns="0" rtlCol="0" anchor="t"/>
          <a:lstStyle/>
          <a:p>
            <a:pPr indent="0" marL="0">
              <a:buNone/>
            </a:pPr>
            <a:r>
              <a:rPr lang="en-US" sz="3000" b="1" spc="-50" kern="0" dirty="0">
                <a:solidFill>
                  <a:srgbClr val="FFFFFF"/>
                </a:solidFill>
                <a:latin typeface="Inter" pitchFamily="34" charset="0"/>
                <a:ea typeface="Inter" pitchFamily="34" charset="-122"/>
                <a:cs typeface="Inter" pitchFamily="34" charset="-120"/>
              </a:rPr>
              <a:t>UBI may work like a reverse VAT.</a:t>
            </a:r>
            <a:endParaRPr lang="en-US" sz="3000" dirty="0"/>
          </a:p>
        </p:txBody>
      </p:sp>
      <p:sp>
        <p:nvSpPr>
          <p:cNvPr id="9" name="Shape 7"/>
          <p:cNvSpPr/>
          <p:nvPr/>
        </p:nvSpPr>
        <p:spPr>
          <a:xfrm>
            <a:off x="838200" y="3070860"/>
            <a:ext cx="10515600" cy="0"/>
          </a:xfrm>
          <a:prstGeom prst="line">
            <a:avLst/>
          </a:prstGeom>
          <a:noFill/>
          <a:ln w="9525">
            <a:solidFill>
              <a:srgbClr val="292929"/>
            </a:solidFill>
            <a:prstDash val="solid"/>
          </a:ln>
        </p:spPr>
      </p:sp>
      <p:sp>
        <p:nvSpPr>
          <p:cNvPr id="10" name="Text 8"/>
          <p:cNvSpPr/>
          <p:nvPr/>
        </p:nvSpPr>
        <p:spPr>
          <a:xfrm>
            <a:off x="838200" y="3276600"/>
            <a:ext cx="609600" cy="381000"/>
          </a:xfrm>
          <a:prstGeom prst="rect">
            <a:avLst/>
          </a:prstGeom>
          <a:noFill/>
          <a:ln/>
        </p:spPr>
        <p:txBody>
          <a:bodyPr wrap="square" lIns="0" tIns="0" rIns="0" bIns="0" rtlCol="0" anchor="t"/>
          <a:lstStyle/>
          <a:p>
            <a:pPr indent="0" marL="0">
              <a:buNone/>
            </a:pPr>
            <a:r>
              <a:rPr lang="en-US" sz="1400" b="1" spc="200" kern="0" dirty="0">
                <a:solidFill>
                  <a:srgbClr val="34D399"/>
                </a:solidFill>
                <a:latin typeface="Inter" pitchFamily="34" charset="0"/>
                <a:ea typeface="Inter" pitchFamily="34" charset="-122"/>
                <a:cs typeface="Inter" pitchFamily="34" charset="-120"/>
              </a:rPr>
              <a:t>03</a:t>
            </a:r>
            <a:endParaRPr lang="en-US" sz="1400" dirty="0"/>
          </a:p>
        </p:txBody>
      </p:sp>
      <p:sp>
        <p:nvSpPr>
          <p:cNvPr id="11" name="Text 9"/>
          <p:cNvSpPr/>
          <p:nvPr/>
        </p:nvSpPr>
        <p:spPr>
          <a:xfrm>
            <a:off x="1600200" y="3215640"/>
            <a:ext cx="9753600" cy="457200"/>
          </a:xfrm>
          <a:prstGeom prst="rect">
            <a:avLst/>
          </a:prstGeom>
          <a:noFill/>
          <a:ln/>
        </p:spPr>
        <p:txBody>
          <a:bodyPr wrap="square" lIns="0" tIns="0" rIns="0" bIns="0" rtlCol="0" anchor="t"/>
          <a:lstStyle/>
          <a:p>
            <a:pPr indent="0" marL="0">
              <a:buNone/>
            </a:pPr>
            <a:r>
              <a:rPr lang="en-US" sz="3000" b="1" spc="-50" kern="0" dirty="0">
                <a:solidFill>
                  <a:srgbClr val="FFFFFF"/>
                </a:solidFill>
                <a:latin typeface="Inter" pitchFamily="34" charset="0"/>
                <a:ea typeface="Inter" pitchFamily="34" charset="-122"/>
                <a:cs typeface="Inter" pitchFamily="34" charset="-120"/>
              </a:rPr>
              <a:t>Value-equivalent reverse transfer</a:t>
            </a:r>
            <a:endParaRPr lang="en-US" sz="3000" dirty="0"/>
          </a:p>
        </p:txBody>
      </p:sp>
      <p:sp>
        <p:nvSpPr>
          <p:cNvPr id="12" name="Shape 10"/>
          <p:cNvSpPr/>
          <p:nvPr/>
        </p:nvSpPr>
        <p:spPr>
          <a:xfrm>
            <a:off x="838200" y="4099560"/>
            <a:ext cx="10515600" cy="0"/>
          </a:xfrm>
          <a:prstGeom prst="line">
            <a:avLst/>
          </a:prstGeom>
          <a:noFill/>
          <a:ln w="9525">
            <a:solidFill>
              <a:srgbClr val="292929"/>
            </a:solidFill>
            <a:prstDash val="solid"/>
          </a:ln>
        </p:spPr>
      </p:sp>
      <p:sp>
        <p:nvSpPr>
          <p:cNvPr id="13" name="Text 11"/>
          <p:cNvSpPr/>
          <p:nvPr/>
        </p:nvSpPr>
        <p:spPr>
          <a:xfrm>
            <a:off x="838200" y="4305300"/>
            <a:ext cx="609600" cy="381000"/>
          </a:xfrm>
          <a:prstGeom prst="rect">
            <a:avLst/>
          </a:prstGeom>
          <a:noFill/>
          <a:ln/>
        </p:spPr>
        <p:txBody>
          <a:bodyPr wrap="square" lIns="0" tIns="0" rIns="0" bIns="0" rtlCol="0" anchor="t"/>
          <a:lstStyle/>
          <a:p>
            <a:pPr indent="0" marL="0">
              <a:buNone/>
            </a:pPr>
            <a:r>
              <a:rPr lang="en-US" sz="1400" b="1" spc="200" kern="0" dirty="0">
                <a:solidFill>
                  <a:srgbClr val="34D399"/>
                </a:solidFill>
                <a:latin typeface="Inter" pitchFamily="34" charset="0"/>
                <a:ea typeface="Inter" pitchFamily="34" charset="-122"/>
                <a:cs typeface="Inter" pitchFamily="34" charset="-120"/>
              </a:rPr>
              <a:t>04</a:t>
            </a:r>
            <a:endParaRPr lang="en-US" sz="1400" dirty="0"/>
          </a:p>
        </p:txBody>
      </p:sp>
      <p:sp>
        <p:nvSpPr>
          <p:cNvPr id="14" name="Text 12"/>
          <p:cNvSpPr/>
          <p:nvPr/>
        </p:nvSpPr>
        <p:spPr>
          <a:xfrm>
            <a:off x="1600200" y="4244340"/>
            <a:ext cx="9753600" cy="457200"/>
          </a:xfrm>
          <a:prstGeom prst="rect">
            <a:avLst/>
          </a:prstGeom>
          <a:noFill/>
          <a:ln/>
        </p:spPr>
        <p:txBody>
          <a:bodyPr wrap="square" lIns="0" tIns="0" rIns="0" bIns="0" rtlCol="0" anchor="t"/>
          <a:lstStyle/>
          <a:p>
            <a:pPr indent="0" marL="0">
              <a:buNone/>
            </a:pPr>
            <a:r>
              <a:rPr lang="en-US" sz="3000" b="1" spc="-50" kern="0" dirty="0">
                <a:solidFill>
                  <a:srgbClr val="FFFFFF"/>
                </a:solidFill>
                <a:latin typeface="Inter" pitchFamily="34" charset="0"/>
                <a:ea typeface="Inter" pitchFamily="34" charset="-122"/>
                <a:cs typeface="Inter" pitchFamily="34" charset="-120"/>
              </a:rPr>
              <a:t>Due consideration</a:t>
            </a:r>
            <a:endParaRPr lang="en-US" sz="3000" dirty="0"/>
          </a:p>
        </p:txBody>
      </p:sp>
      <p:sp>
        <p:nvSpPr>
          <p:cNvPr id="15" name="Text 13"/>
          <p:cNvSpPr/>
          <p:nvPr/>
        </p:nvSpPr>
        <p:spPr>
          <a:xfrm>
            <a:off x="1600200" y="4701540"/>
            <a:ext cx="9753600" cy="228600"/>
          </a:xfrm>
          <a:prstGeom prst="rect">
            <a:avLst/>
          </a:prstGeom>
          <a:noFill/>
          <a:ln/>
        </p:spPr>
        <p:txBody>
          <a:bodyPr wrap="square" lIns="0" tIns="0" rIns="0" bIns="0" rtlCol="0" anchor="t"/>
          <a:lstStyle/>
          <a:p>
            <a:pPr indent="0" marL="0">
              <a:buNone/>
            </a:pPr>
            <a:r>
              <a:rPr lang="en-US" sz="1200" dirty="0">
                <a:solidFill>
                  <a:srgbClr val="A1A1AA"/>
                </a:solidFill>
                <a:latin typeface="Inter" pitchFamily="34" charset="0"/>
                <a:ea typeface="Inter" pitchFamily="34" charset="-122"/>
                <a:cs typeface="Inter" pitchFamily="34" charset="-120"/>
              </a:rPr>
              <a:t>From the note on the exchange: paid in kind, priced by an oracle, streamed back as income.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38200" y="731520"/>
            <a:ext cx="30480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SUMMARY</a:t>
            </a:r>
            <a:endParaRPr lang="en-US" sz="1020" dirty="0"/>
          </a:p>
        </p:txBody>
      </p:sp>
      <p:pic>
        <p:nvPicPr>
          <p:cNvPr id="3" name="Image 0" descr="/workspace/slides/argonaut-agentic-2j22GJ/assets/vert-mark-ruled-b.png">    </p:cNvPr>
          <p:cNvPicPr>
            <a:picLocks noChangeAspect="1"/>
          </p:cNvPicPr>
          <p:nvPr/>
        </p:nvPicPr>
        <p:blipFill>
          <a:blip r:embed="rId1"/>
          <a:stretch>
            <a:fillRect/>
          </a:stretch>
        </p:blipFill>
        <p:spPr>
          <a:xfrm>
            <a:off x="838200" y="1219200"/>
            <a:ext cx="2743200" cy="959496"/>
          </a:xfrm>
          <a:prstGeom prst="rect">
            <a:avLst/>
          </a:prstGeom>
        </p:spPr>
      </p:pic>
      <p:sp>
        <p:nvSpPr>
          <p:cNvPr id="4" name="Text 1"/>
          <p:cNvSpPr/>
          <p:nvPr/>
        </p:nvSpPr>
        <p:spPr>
          <a:xfrm>
            <a:off x="4267200" y="1143000"/>
            <a:ext cx="7086600" cy="4267200"/>
          </a:xfrm>
          <a:prstGeom prst="rect">
            <a:avLst/>
          </a:prstGeom>
          <a:noFill/>
          <a:ln/>
        </p:spPr>
        <p:txBody>
          <a:bodyPr wrap="square" lIns="0" tIns="0" rIns="0" bIns="0" rtlCol="0" anchor="t"/>
          <a:lstStyle/>
          <a:p>
            <a:pPr indent="0" marL="0">
              <a:lnSpc>
                <a:spcPct val="130000"/>
              </a:lnSpc>
              <a:buNone/>
            </a:pPr>
            <a:r>
              <a:rPr lang="en-US" sz="1800" dirty="0">
                <a:solidFill>
                  <a:srgbClr val="D4D4D8"/>
                </a:solidFill>
                <a:latin typeface="Inter" pitchFamily="34" charset="0"/>
                <a:ea typeface="Inter" pitchFamily="34" charset="-122"/>
                <a:cs typeface="Inter" pitchFamily="34" charset="-120"/>
              </a:rPr>
              <a:t>UBI may work like a reverse VAT. VAT is essentially a payment to the commons for value added, meaning processing. VeRT runs the other way: a value-equivalent reverse transfer paid when a contribution in kind offsets a cost the commons would otherwise carry. Walking offsets the use of pharmacology; eating vegetables instead of refined carbohydrates or heavily processed foods does the same. IoT factors using the ISO 20022 standard confirm the activity, an oracle prices it against what it displaces, and the income is streamed in stablecoin. It should self-fund. It does need stablecoins to scale first.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Argonaut Agentic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Argonaut Agentic: brand kit</dc:title>
  <dc:subject>PptxGenJS Presentation</dc:subject>
  <dc:creator>Ashit Milne</dc:creator>
  <cp:lastModifiedBy>Ashit Milne</cp:lastModifiedBy>
  <cp:revision>1</cp:revision>
  <dcterms:created xsi:type="dcterms:W3CDTF">2026-10-11T21:50:32Z</dcterms:created>
  <dcterms:modified xsi:type="dcterms:W3CDTF">2026-10-11T21:50:32Z</dcterms:modified>
</cp:coreProperties>
</file>
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
  </p:notesMasterIdLst>
  <p:sldIdLst>
    <p:sldId id="256" r:id="rId2"/>
    <p:sldId id="257" r:id="rId3"/>
    <p:sldId id="258" r:id="rId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notesMaster" Target="notesMasters/notesMaster1.xml"/><Relationship Id="rId6" Type="http://schemas.openxmlformats.org/officeDocument/2006/relationships/presProps" Target="presProps.xml"/><Relationship Id="rId7" Type="http://schemas.openxmlformats.org/officeDocument/2006/relationships/viewProps" Target="viewProps.xml"/><Relationship Id="rId8" Type="http://schemas.openxmlformats.org/officeDocument/2006/relationships/theme" Target="theme/theme1.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Page 1 of the site pop-up: what VeRT is. Headline and summary from copy.md (tagline option 2, Summary). VAT / VeRT boxes from card c's on-card text. Each box is one editable shape; the arrow is a native 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Page 2: the exchange flow from card d. YOU (paid in kind) -&gt; ORACLE (equivalent price against what it displaces) -&gt; BACK TO YOU (income streamed in stablecoin). Boxes are single editable shapes and the arrows are native lines, so you can rearrange them. The dashed return line shows the income coming back to you; delete it if it says too much.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Working note only: not part of the pop-up.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A_DARK">
    <p:bg>
      <p:bgPr>
        <a:solidFill>
          <a:srgbClr val="050505"/>
        </a:solidFill>
      </p:bgPr>
    </p:bg>
    <p:spTree>
      <p:nvGrpSpPr>
        <p:cNvPr id="1" name=""/>
        <p:cNvGrpSpPr/>
        <p:nvPr/>
      </p:nvGrpSpPr>
      <p:grpSpPr>
        <a:xfrm>
          <a:off x="0" y="0"/>
          <a:ext cx="0" cy="0"/>
          <a:chOff x="0" y="0"/>
          <a:chExt cx="0" cy="0"/>
        </a:xfrm>
      </p:grpSpPr>
      <p:sp>
        <p:nvSpPr>
          <p:cNvPr id="2" name="Shape 0"/>
          <p:cNvSpPr/>
          <p:nvPr/>
        </p:nvSpPr>
        <p:spPr>
          <a:xfrm>
            <a:off x="213360" y="213360"/>
            <a:ext cx="11765280" cy="6431280"/>
          </a:xfrm>
          <a:prstGeom prst="rect">
            <a:avLst/>
          </a:prstGeom>
          <a:solidFill>
            <a:srgbClr val="050505">
              <a:alpha val="0"/>
            </a:srgbClr>
          </a:solidFill>
          <a:ln w="9525">
            <a:solidFill>
              <a:srgbClr val="292929"/>
            </a:solidFill>
            <a:prstDash val="solid"/>
          </a:ln>
        </p:spPr>
      </p:sp>
      <p:sp>
        <p:nvSpPr>
          <p:cNvPr id="3" name="Shape 1"/>
          <p:cNvSpPr/>
          <p:nvPr/>
        </p:nvSpPr>
        <p:spPr>
          <a:xfrm>
            <a:off x="838200" y="5745480"/>
            <a:ext cx="10515600" cy="0"/>
          </a:xfrm>
          <a:prstGeom prst="line">
            <a:avLst/>
          </a:prstGeom>
          <a:noFill/>
          <a:ln w="9525">
            <a:solidFill>
              <a:srgbClr val="10B981">
                <a:alpha val="70000"/>
              </a:srgbClr>
            </a:solidFill>
            <a:prstDash val="solid"/>
          </a:ln>
        </p:spPr>
      </p:sp>
      <p:pic>
        <p:nvPicPr>
          <p:cNvPr id="4" name="Image 0" descr="/workspace/slides/argonaut-agentic-2j22GJ/assets/footer-lockup.png">    </p:cNvPr>
          <p:cNvPicPr>
            <a:picLocks noChangeAspect="1"/>
          </p:cNvPicPr>
          <p:nvPr/>
        </p:nvPicPr>
        <p:blipFill>
          <a:blip r:embed="rId1"/>
          <a:stretch>
            <a:fillRect/>
          </a:stretch>
        </p:blipFill>
        <p:spPr>
          <a:xfrm>
            <a:off x="838200" y="6004560"/>
            <a:ext cx="1539240" cy="30480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A_BARE">
    <p:bg>
      <p:bgPr>
        <a:solidFill>
          <a:srgbClr val="050505"/>
        </a:solidFill>
      </p:bgPr>
    </p:bg>
    <p:spTree>
      <p:nvGrpSpPr>
        <p:cNvPr id="1" name=""/>
        <p:cNvGrpSpPr/>
        <p:nvPr/>
      </p:nvGrpSpPr>
      <p:grpSpPr>
        <a:xfrm>
          <a:off x="0" y="0"/>
          <a:ext cx="0" cy="0"/>
          <a:chOff x="0" y="0"/>
          <a:chExt cx="0" cy="0"/>
        </a:xfrm>
      </p:grpSpPr>
      <p:sp>
        <p:nvSpPr>
          <p:cNvPr id="2" name="Shape 0"/>
          <p:cNvSpPr/>
          <p:nvPr/>
        </p:nvSpPr>
        <p:spPr>
          <a:xfrm>
            <a:off x="213360" y="213360"/>
            <a:ext cx="11765280" cy="6431280"/>
          </a:xfrm>
          <a:prstGeom prst="rect">
            <a:avLst/>
          </a:prstGeom>
          <a:solidFill>
            <a:srgbClr val="050505">
              <a:alpha val="0"/>
            </a:srgbClr>
          </a:solidFill>
          <a:ln w="9525">
            <a:solidFill>
              <a:srgbClr val="292929"/>
            </a:solidFill>
            <a:prstDash val="solid"/>
          </a:ln>
        </p:spPr>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workspace/slides/argonaut-agentic-2j22GJ/assets/vert-mark-ruled-b.png">    </p:cNvPr>
          <p:cNvPicPr>
            <a:picLocks noChangeAspect="1"/>
          </p:cNvPicPr>
          <p:nvPr/>
        </p:nvPicPr>
        <p:blipFill>
          <a:blip r:embed="rId1"/>
          <a:stretch>
            <a:fillRect/>
          </a:stretch>
        </p:blipFill>
        <p:spPr>
          <a:xfrm>
            <a:off x="838200" y="685800"/>
            <a:ext cx="1828800" cy="639664"/>
          </a:xfrm>
          <a:prstGeom prst="rect">
            <a:avLst/>
          </a:prstGeom>
        </p:spPr>
      </p:pic>
      <p:sp>
        <p:nvSpPr>
          <p:cNvPr id="3" name="Text 0"/>
          <p:cNvSpPr/>
          <p:nvPr/>
        </p:nvSpPr>
        <p:spPr>
          <a:xfrm>
            <a:off x="838200" y="1493520"/>
            <a:ext cx="10515600" cy="533400"/>
          </a:xfrm>
          <a:prstGeom prst="rect">
            <a:avLst/>
          </a:prstGeom>
          <a:noFill/>
          <a:ln/>
        </p:spPr>
        <p:txBody>
          <a:bodyPr wrap="square" lIns="0" tIns="0" rIns="0" bIns="0" rtlCol="0" anchor="t"/>
          <a:lstStyle/>
          <a:p>
            <a:pPr indent="0" marL="0">
              <a:buNone/>
            </a:pPr>
            <a:r>
              <a:rPr lang="en-US" sz="3600" b="1" spc="-100" kern="0" dirty="0">
                <a:solidFill>
                  <a:srgbClr val="FFFFFF"/>
                </a:solidFill>
                <a:latin typeface="Inter" pitchFamily="34" charset="0"/>
                <a:ea typeface="Inter" pitchFamily="34" charset="-122"/>
                <a:cs typeface="Inter" pitchFamily="34" charset="-120"/>
              </a:rPr>
              <a:t>UBI may work like a </a:t>
            </a:r>
            <a:r>
              <a:rPr lang="en-US" sz="3600" b="1" spc="-100" kern="0" dirty="0">
                <a:solidFill>
                  <a:srgbClr val="34D399"/>
                </a:solidFill>
                <a:latin typeface="Inter" pitchFamily="34" charset="0"/>
                <a:ea typeface="Inter" pitchFamily="34" charset="-122"/>
                <a:cs typeface="Inter" pitchFamily="34" charset="-120"/>
              </a:rPr>
              <a:t>reverse</a:t>
            </a:r>
            <a:r>
              <a:rPr lang="en-US" sz="3600" b="1" spc="-100" kern="0" dirty="0">
                <a:solidFill>
                  <a:srgbClr val="FFFFFF"/>
                </a:solidFill>
                <a:latin typeface="Inter" pitchFamily="34" charset="0"/>
                <a:ea typeface="Inter" pitchFamily="34" charset="-122"/>
                <a:cs typeface="Inter" pitchFamily="34" charset="-120"/>
              </a:rPr>
              <a:t> VAT.</a:t>
            </a:r>
            <a:endParaRPr lang="en-US" sz="3600" dirty="0"/>
          </a:p>
        </p:txBody>
      </p:sp>
      <p:sp>
        <p:nvSpPr>
          <p:cNvPr id="4" name="Text 1"/>
          <p:cNvSpPr/>
          <p:nvPr/>
        </p:nvSpPr>
        <p:spPr>
          <a:xfrm>
            <a:off x="838200" y="2286000"/>
            <a:ext cx="5638800" cy="3276600"/>
          </a:xfrm>
          <a:prstGeom prst="rect">
            <a:avLst/>
          </a:prstGeom>
          <a:noFill/>
          <a:ln/>
        </p:spPr>
        <p:txBody>
          <a:bodyPr wrap="square" lIns="0" tIns="0" rIns="0" bIns="0" rtlCol="0" anchor="t"/>
          <a:lstStyle/>
          <a:p>
            <a:pPr indent="0" marL="0">
              <a:lnSpc>
                <a:spcPct val="130000"/>
              </a:lnSpc>
              <a:buNone/>
            </a:pPr>
            <a:r>
              <a:rPr lang="en-US" sz="1400" dirty="0">
                <a:solidFill>
                  <a:srgbClr val="A1A1AA"/>
                </a:solidFill>
                <a:latin typeface="Inter" pitchFamily="34" charset="0"/>
                <a:ea typeface="Inter" pitchFamily="34" charset="-122"/>
                <a:cs typeface="Inter" pitchFamily="34" charset="-120"/>
              </a:rPr>
              <a:t>UBI may work like a reverse VAT. VAT is essentially a payment to the commons for value added, meaning processing. VeRT runs the other way: a value-equivalent reverse transfer paid when a contribution in kind offsets a cost the commons would otherwise carry. Walking offsets the use of pharmacology; eating vegetables instead of refined carbohydrates or heavily processed foods does the same. IoT factors using the ISO 20022 standard confirm the activity, an oracle prices it against what it displaces, and the income is streamed in stablecoin. It should self-fund. It does need stablecoins to scale first.</a:t>
            </a:r>
            <a:endParaRPr lang="en-US" sz="1400" dirty="0"/>
          </a:p>
        </p:txBody>
      </p:sp>
      <p:sp>
        <p:nvSpPr>
          <p:cNvPr id="5" name="Text 2"/>
          <p:cNvSpPr/>
          <p:nvPr/>
        </p:nvSpPr>
        <p:spPr>
          <a:xfrm>
            <a:off x="7010400" y="2255520"/>
            <a:ext cx="4343400" cy="1402080"/>
          </a:xfrm>
          <a:prstGeom prst="roundRect">
            <a:avLst>
              <a:gd name="adj" fmla="val 2609"/>
            </a:avLst>
          </a:prstGeom>
          <a:solidFill>
            <a:srgbClr val="0D0D0D"/>
          </a:solidFill>
          <a:ln w="9525">
            <a:solidFill>
              <a:srgbClr val="292929"/>
            </a:solidFill>
          </a:ln>
        </p:spPr>
        <p:txBody>
          <a:bodyPr wrap="square" lIns="228600" tIns="182880" rIns="228600" bIns="167640" rtlCol="0" anchor="t"/>
          <a:lstStyle/>
          <a:p>
            <a:pPr indent="0" marL="0">
              <a:buNone/>
            </a:pPr>
            <a:r>
              <a:rPr lang="en-US" sz="960" b="1" spc="220" kern="0" dirty="0">
                <a:solidFill>
                  <a:srgbClr val="A1A1AA"/>
                </a:solidFill>
                <a:latin typeface="Inter" pitchFamily="34" charset="0"/>
                <a:ea typeface="Inter" pitchFamily="34" charset="-122"/>
                <a:cs typeface="Inter" pitchFamily="34" charset="-120"/>
              </a:rPr>
              <a:t>HEAVILY PROCESSED</a:t>
            </a:r>
            <a:endParaRPr lang="en-US" sz="960" dirty="0"/>
          </a:p>
          <a:p>
            <a:pPr indent="0" marL="0">
              <a:spcBef>
                <a:spcPts val="600"/>
              </a:spcBef>
              <a:buNone/>
            </a:pPr>
            <a:r>
              <a:rPr lang="en-US" sz="2400" b="1" dirty="0">
                <a:solidFill>
                  <a:srgbClr val="D4D4D8"/>
                </a:solidFill>
                <a:latin typeface="Inter" pitchFamily="34" charset="0"/>
                <a:ea typeface="Inter" pitchFamily="34" charset="-122"/>
                <a:cs typeface="Inter" pitchFamily="34" charset="-120"/>
              </a:rPr>
              <a:t>VAT</a:t>
            </a:r>
            <a:endParaRPr lang="en-US" sz="960" dirty="0"/>
          </a:p>
          <a:p>
            <a:pPr indent="0" marL="0">
              <a:lnSpc>
                <a:spcPct val="120000"/>
              </a:lnSpc>
              <a:spcBef>
                <a:spcPts val="600"/>
              </a:spcBef>
              <a:buNone/>
            </a:pPr>
            <a:r>
              <a:rPr lang="en-US" sz="1260" dirty="0">
                <a:solidFill>
                  <a:srgbClr val="A1A1AA"/>
                </a:solidFill>
                <a:latin typeface="Inter" pitchFamily="34" charset="0"/>
                <a:ea typeface="Inter" pitchFamily="34" charset="-122"/>
                <a:cs typeface="Inter" pitchFamily="34" charset="-120"/>
              </a:rPr>
              <a:t>A payment to the commons for value added, meaning processing.</a:t>
            </a:r>
            <a:endParaRPr lang="en-US" sz="960" dirty="0"/>
          </a:p>
        </p:txBody>
      </p:sp>
      <p:sp>
        <p:nvSpPr>
          <p:cNvPr id="6" name="Shape 3"/>
          <p:cNvSpPr/>
          <p:nvPr/>
        </p:nvSpPr>
        <p:spPr>
          <a:xfrm>
            <a:off x="9182100" y="3718560"/>
            <a:ext cx="0" cy="350520"/>
          </a:xfrm>
          <a:prstGeom prst="line">
            <a:avLst/>
          </a:prstGeom>
          <a:noFill/>
          <a:ln w="19050">
            <a:solidFill>
              <a:srgbClr val="34D399"/>
            </a:solidFill>
            <a:prstDash val="solid"/>
            <a:tailEnd type="arrow"/>
          </a:ln>
        </p:spPr>
      </p:sp>
      <p:sp>
        <p:nvSpPr>
          <p:cNvPr id="7" name="Text 4"/>
          <p:cNvSpPr/>
          <p:nvPr/>
        </p:nvSpPr>
        <p:spPr>
          <a:xfrm>
            <a:off x="7010400" y="4130040"/>
            <a:ext cx="4343400" cy="1402080"/>
          </a:xfrm>
          <a:prstGeom prst="roundRect">
            <a:avLst>
              <a:gd name="adj" fmla="val 2609"/>
            </a:avLst>
          </a:prstGeom>
          <a:solidFill>
            <a:srgbClr val="0D0D0D"/>
          </a:solidFill>
          <a:ln w="9525">
            <a:solidFill>
              <a:srgbClr val="10B981"/>
            </a:solidFill>
          </a:ln>
        </p:spPr>
        <p:txBody>
          <a:bodyPr wrap="square" lIns="228600" tIns="182880" rIns="228600" bIns="167640" rtlCol="0" anchor="t"/>
          <a:lstStyle/>
          <a:p>
            <a:pPr indent="0" marL="0">
              <a:buNone/>
            </a:pPr>
            <a:r>
              <a:rPr lang="en-US" sz="960" b="1" spc="220" kern="0" dirty="0">
                <a:solidFill>
                  <a:srgbClr val="34D399"/>
                </a:solidFill>
                <a:latin typeface="Inter" pitchFamily="34" charset="0"/>
                <a:ea typeface="Inter" pitchFamily="34" charset="-122"/>
                <a:cs typeface="Inter" pitchFamily="34" charset="-120"/>
              </a:rPr>
              <a:t>RAW / ORGANIC</a:t>
            </a:r>
            <a:endParaRPr lang="en-US" sz="960" dirty="0"/>
          </a:p>
          <a:p>
            <a:pPr indent="0" marL="0">
              <a:spcBef>
                <a:spcPts val="600"/>
              </a:spcBef>
              <a:buNone/>
            </a:pPr>
            <a:r>
              <a:rPr lang="en-US" sz="2400" b="1" dirty="0">
                <a:solidFill>
                  <a:srgbClr val="FFFFFF"/>
                </a:solidFill>
                <a:latin typeface="Inter" pitchFamily="34" charset="0"/>
                <a:ea typeface="Inter" pitchFamily="34" charset="-122"/>
                <a:cs typeface="Inter" pitchFamily="34" charset="-120"/>
              </a:rPr>
              <a:t>VeRT</a:t>
            </a:r>
            <a:endParaRPr lang="en-US" sz="960" dirty="0"/>
          </a:p>
          <a:p>
            <a:pPr indent="0" marL="0">
              <a:lnSpc>
                <a:spcPct val="120000"/>
              </a:lnSpc>
              <a:spcBef>
                <a:spcPts val="600"/>
              </a:spcBef>
              <a:buNone/>
            </a:pPr>
            <a:r>
              <a:rPr lang="en-US" sz="1260" dirty="0">
                <a:solidFill>
                  <a:srgbClr val="A1A1AA"/>
                </a:solidFill>
                <a:latin typeface="Inter" pitchFamily="34" charset="0"/>
                <a:ea typeface="Inter" pitchFamily="34" charset="-122"/>
                <a:cs typeface="Inter" pitchFamily="34" charset="-120"/>
              </a:rPr>
              <a:t>A transfer back: the processing, energy and cost avoided.</a:t>
            </a:r>
            <a:endParaRPr lang="en-US" sz="96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838200" y="731520"/>
            <a:ext cx="10515600" cy="198120"/>
          </a:xfrm>
          <a:prstGeom prst="rect">
            <a:avLst/>
          </a:prstGeom>
          <a:noFill/>
          <a:ln/>
        </p:spPr>
        <p:txBody>
          <a:bodyPr wrap="square" lIns="0" tIns="0" rIns="0" bIns="0" rtlCol="0" anchor="t"/>
          <a:lstStyle/>
          <a:p>
            <a:pPr indent="0" marL="0">
              <a:buNone/>
            </a:pPr>
            <a:r>
              <a:rPr lang="en-US" sz="1020" b="1" spc="340" kern="0" dirty="0">
                <a:solidFill>
                  <a:srgbClr val="34D399"/>
                </a:solidFill>
                <a:latin typeface="Inter" pitchFamily="34" charset="0"/>
                <a:ea typeface="Inter" pitchFamily="34" charset="-122"/>
                <a:cs typeface="Inter" pitchFamily="34" charset="-120"/>
              </a:rPr>
              <a:t>DUE CONSIDERATION</a:t>
            </a:r>
            <a:endParaRPr lang="en-US" sz="1020" dirty="0"/>
          </a:p>
        </p:txBody>
      </p:sp>
      <p:sp>
        <p:nvSpPr>
          <p:cNvPr id="3" name="Text 1"/>
          <p:cNvSpPr/>
          <p:nvPr/>
        </p:nvSpPr>
        <p:spPr>
          <a:xfrm>
            <a:off x="838200" y="990600"/>
            <a:ext cx="10515600" cy="685800"/>
          </a:xfrm>
          <a:prstGeom prst="rect">
            <a:avLst/>
          </a:prstGeom>
          <a:noFill/>
          <a:ln/>
        </p:spPr>
        <p:txBody>
          <a:bodyPr wrap="square" lIns="0" tIns="0" rIns="0" bIns="0" rtlCol="0" anchor="t"/>
          <a:lstStyle/>
          <a:p>
            <a:pPr indent="0" marL="0">
              <a:buNone/>
            </a:pPr>
            <a:r>
              <a:rPr lang="en-US" sz="4400" b="1" spc="-100" kern="0" dirty="0">
                <a:solidFill>
                  <a:srgbClr val="FFFFFF"/>
                </a:solidFill>
                <a:latin typeface="Inter" pitchFamily="34" charset="0"/>
                <a:ea typeface="Inter" pitchFamily="34" charset="-122"/>
                <a:cs typeface="Inter" pitchFamily="34" charset="-120"/>
              </a:rPr>
              <a:t>Due consideration.</a:t>
            </a:r>
            <a:endParaRPr lang="en-US" sz="4400" dirty="0"/>
          </a:p>
        </p:txBody>
      </p:sp>
      <p:sp>
        <p:nvSpPr>
          <p:cNvPr id="4" name="Text 2"/>
          <p:cNvSpPr/>
          <p:nvPr/>
        </p:nvSpPr>
        <p:spPr>
          <a:xfrm>
            <a:off x="838200" y="1722120"/>
            <a:ext cx="8915400" cy="609600"/>
          </a:xfrm>
          <a:prstGeom prst="rect">
            <a:avLst/>
          </a:prstGeom>
          <a:noFill/>
          <a:ln/>
        </p:spPr>
        <p:txBody>
          <a:bodyPr wrap="square" lIns="0" tIns="0" rIns="0" bIns="0" rtlCol="0" anchor="t"/>
          <a:lstStyle/>
          <a:p>
            <a:pPr indent="0" marL="0">
              <a:lnSpc>
                <a:spcPct val="120000"/>
              </a:lnSpc>
              <a:buNone/>
            </a:pPr>
            <a:r>
              <a:rPr lang="en-US" sz="1600" dirty="0">
                <a:solidFill>
                  <a:srgbClr val="A1A1AA"/>
                </a:solidFill>
                <a:latin typeface="Inter" pitchFamily="34" charset="0"/>
                <a:ea typeface="Inter" pitchFamily="34" charset="-122"/>
                <a:cs typeface="Inter" pitchFamily="34" charset="-120"/>
              </a:rPr>
              <a:t>It should self-fund since consumption of organic and non-pharma product at scale would reduce public entitlement, transportation etc. expenditures.</a:t>
            </a:r>
            <a:endParaRPr lang="en-US" sz="1600" dirty="0"/>
          </a:p>
        </p:txBody>
      </p:sp>
      <p:sp>
        <p:nvSpPr>
          <p:cNvPr id="5" name="Text 3"/>
          <p:cNvSpPr/>
          <p:nvPr/>
        </p:nvSpPr>
        <p:spPr>
          <a:xfrm>
            <a:off x="838200" y="2667000"/>
            <a:ext cx="3147060" cy="1828800"/>
          </a:xfrm>
          <a:prstGeom prst="roundRect">
            <a:avLst>
              <a:gd name="adj" fmla="val 2000"/>
            </a:avLst>
          </a:prstGeom>
          <a:solidFill>
            <a:srgbClr val="0D0D0D"/>
          </a:solidFill>
          <a:ln w="9525">
            <a:solidFill>
              <a:srgbClr val="292929"/>
            </a:solidFill>
          </a:ln>
        </p:spPr>
        <p:txBody>
          <a:bodyPr wrap="square" lIns="213360" tIns="182880" rIns="213360" bIns="167640" rtlCol="0" anchor="t"/>
          <a:lstStyle/>
          <a:p>
            <a:pPr indent="0" marL="0">
              <a:buNone/>
            </a:pPr>
            <a:r>
              <a:rPr lang="en-US" sz="900" b="1" spc="220" kern="0" dirty="0">
                <a:solidFill>
                  <a:srgbClr val="34D399"/>
                </a:solidFill>
                <a:latin typeface="Inter" pitchFamily="34" charset="0"/>
                <a:ea typeface="Inter" pitchFamily="34" charset="-122"/>
                <a:cs typeface="Inter" pitchFamily="34" charset="-120"/>
              </a:rPr>
              <a:t>YOU</a:t>
            </a:r>
            <a:endParaRPr lang="en-US" sz="900" dirty="0"/>
          </a:p>
          <a:p>
            <a:pPr indent="0" marL="0">
              <a:spcBef>
                <a:spcPts val="600"/>
              </a:spcBef>
              <a:buNone/>
            </a:pPr>
            <a:r>
              <a:rPr lang="en-US" sz="2040" b="1" dirty="0">
                <a:solidFill>
                  <a:srgbClr val="FFFFFF"/>
                </a:solidFill>
                <a:latin typeface="Inter" pitchFamily="34" charset="0"/>
                <a:ea typeface="Inter" pitchFamily="34" charset="-122"/>
                <a:cs typeface="Inter" pitchFamily="34" charset="-120"/>
              </a:rPr>
              <a:t>Paid in kind</a:t>
            </a:r>
            <a:endParaRPr lang="en-US" sz="900" dirty="0"/>
          </a:p>
          <a:p>
            <a:pPr indent="0" marL="0">
              <a:lnSpc>
                <a:spcPct val="120000"/>
              </a:lnSpc>
              <a:spcBef>
                <a:spcPts val="600"/>
              </a:spcBef>
              <a:buNone/>
            </a:pPr>
            <a:r>
              <a:rPr lang="en-US" sz="1200" dirty="0">
                <a:solidFill>
                  <a:srgbClr val="A1A1AA"/>
                </a:solidFill>
                <a:latin typeface="Inter" pitchFamily="34" charset="0"/>
                <a:ea typeface="Inter" pitchFamily="34" charset="-122"/>
                <a:cs typeface="Inter" pitchFamily="34" charset="-120"/>
              </a:rPr>
              <a:t>Factored movement (walking, riding), or creative effort that generates value. Attested over ISO 20022.</a:t>
            </a:r>
            <a:endParaRPr lang="en-US" sz="900" dirty="0"/>
          </a:p>
        </p:txBody>
      </p:sp>
      <p:sp>
        <p:nvSpPr>
          <p:cNvPr id="6" name="Text 4"/>
          <p:cNvSpPr/>
          <p:nvPr/>
        </p:nvSpPr>
        <p:spPr>
          <a:xfrm>
            <a:off x="4518660" y="2667000"/>
            <a:ext cx="3147060" cy="1828800"/>
          </a:xfrm>
          <a:prstGeom prst="roundRect">
            <a:avLst>
              <a:gd name="adj" fmla="val 2000"/>
            </a:avLst>
          </a:prstGeom>
          <a:solidFill>
            <a:srgbClr val="0D0D0D"/>
          </a:solidFill>
          <a:ln w="9525">
            <a:solidFill>
              <a:srgbClr val="10B981"/>
            </a:solidFill>
          </a:ln>
        </p:spPr>
        <p:txBody>
          <a:bodyPr wrap="square" lIns="213360" tIns="182880" rIns="213360" bIns="167640" rtlCol="0" anchor="t"/>
          <a:lstStyle/>
          <a:p>
            <a:pPr indent="0" marL="0">
              <a:buNone/>
            </a:pPr>
            <a:r>
              <a:rPr lang="en-US" sz="900" b="1" spc="220" kern="0" dirty="0">
                <a:solidFill>
                  <a:srgbClr val="34D399"/>
                </a:solidFill>
                <a:latin typeface="Inter" pitchFamily="34" charset="0"/>
                <a:ea typeface="Inter" pitchFamily="34" charset="-122"/>
                <a:cs typeface="Inter" pitchFamily="34" charset="-120"/>
              </a:rPr>
              <a:t>ORACLE</a:t>
            </a:r>
            <a:endParaRPr lang="en-US" sz="900" dirty="0"/>
          </a:p>
          <a:p>
            <a:pPr indent="0" marL="0">
              <a:spcBef>
                <a:spcPts val="600"/>
              </a:spcBef>
              <a:buNone/>
            </a:pPr>
            <a:r>
              <a:rPr lang="en-US" sz="2040" b="1" dirty="0">
                <a:solidFill>
                  <a:srgbClr val="FFFFFF"/>
                </a:solidFill>
                <a:latin typeface="Inter" pitchFamily="34" charset="0"/>
                <a:ea typeface="Inter" pitchFamily="34" charset="-122"/>
                <a:cs typeface="Inter" pitchFamily="34" charset="-120"/>
              </a:rPr>
              <a:t>Equivalent price</a:t>
            </a:r>
            <a:endParaRPr lang="en-US" sz="900" dirty="0"/>
          </a:p>
          <a:p>
            <a:pPr indent="0" marL="0">
              <a:lnSpc>
                <a:spcPct val="120000"/>
              </a:lnSpc>
              <a:spcBef>
                <a:spcPts val="600"/>
              </a:spcBef>
              <a:buNone/>
            </a:pPr>
            <a:r>
              <a:rPr lang="en-US" sz="1200" dirty="0">
                <a:solidFill>
                  <a:srgbClr val="A1A1AA"/>
                </a:solidFill>
                <a:latin typeface="Inter" pitchFamily="34" charset="0"/>
                <a:ea typeface="Inter" pitchFamily="34" charset="-122"/>
                <a:cs typeface="Inter" pitchFamily="34" charset="-120"/>
              </a:rPr>
              <a:t>The contribution is priced against what it displaces: pharma, fossil fuel...</a:t>
            </a:r>
            <a:endParaRPr lang="en-US" sz="900" dirty="0"/>
          </a:p>
        </p:txBody>
      </p:sp>
      <p:sp>
        <p:nvSpPr>
          <p:cNvPr id="7" name="Text 5"/>
          <p:cNvSpPr/>
          <p:nvPr/>
        </p:nvSpPr>
        <p:spPr>
          <a:xfrm>
            <a:off x="8199120" y="2667000"/>
            <a:ext cx="3147060" cy="1828800"/>
          </a:xfrm>
          <a:prstGeom prst="roundRect">
            <a:avLst>
              <a:gd name="adj" fmla="val 2000"/>
            </a:avLst>
          </a:prstGeom>
          <a:solidFill>
            <a:srgbClr val="0D0D0D"/>
          </a:solidFill>
          <a:ln w="9525">
            <a:solidFill>
              <a:srgbClr val="292929"/>
            </a:solidFill>
          </a:ln>
        </p:spPr>
        <p:txBody>
          <a:bodyPr wrap="square" lIns="213360" tIns="182880" rIns="213360" bIns="167640" rtlCol="0" anchor="t"/>
          <a:lstStyle/>
          <a:p>
            <a:pPr indent="0" marL="0">
              <a:buNone/>
            </a:pPr>
            <a:r>
              <a:rPr lang="en-US" sz="900" b="1" spc="220" kern="0" dirty="0">
                <a:solidFill>
                  <a:srgbClr val="34D399"/>
                </a:solidFill>
                <a:latin typeface="Inter" pitchFamily="34" charset="0"/>
                <a:ea typeface="Inter" pitchFamily="34" charset="-122"/>
                <a:cs typeface="Inter" pitchFamily="34" charset="-120"/>
              </a:rPr>
              <a:t>BACK TO YOU</a:t>
            </a:r>
            <a:endParaRPr lang="en-US" sz="900" dirty="0"/>
          </a:p>
          <a:p>
            <a:pPr indent="0" marL="0">
              <a:spcBef>
                <a:spcPts val="600"/>
              </a:spcBef>
              <a:buNone/>
            </a:pPr>
            <a:r>
              <a:rPr lang="en-US" sz="2040" b="1" dirty="0">
                <a:solidFill>
                  <a:srgbClr val="FFFFFF"/>
                </a:solidFill>
                <a:latin typeface="Inter" pitchFamily="34" charset="0"/>
                <a:ea typeface="Inter" pitchFamily="34" charset="-122"/>
                <a:cs typeface="Inter" pitchFamily="34" charset="-120"/>
              </a:rPr>
              <a:t>Streamed income</a:t>
            </a:r>
            <a:endParaRPr lang="en-US" sz="900" dirty="0"/>
          </a:p>
          <a:p>
            <a:pPr indent="0" marL="0">
              <a:lnSpc>
                <a:spcPct val="120000"/>
              </a:lnSpc>
              <a:spcBef>
                <a:spcPts val="600"/>
              </a:spcBef>
              <a:buNone/>
            </a:pPr>
            <a:r>
              <a:rPr lang="en-US" sz="1200" dirty="0">
                <a:solidFill>
                  <a:srgbClr val="A1A1AA"/>
                </a:solidFill>
                <a:latin typeface="Inter" pitchFamily="34" charset="0"/>
                <a:ea typeface="Inter" pitchFamily="34" charset="-122"/>
                <a:cs typeface="Inter" pitchFamily="34" charset="-120"/>
              </a:rPr>
              <a:t>VeRT, paid in stablecoin.</a:t>
            </a:r>
            <a:endParaRPr lang="en-US" sz="900" dirty="0"/>
          </a:p>
        </p:txBody>
      </p:sp>
      <p:sp>
        <p:nvSpPr>
          <p:cNvPr id="8" name="Shape 6"/>
          <p:cNvSpPr/>
          <p:nvPr/>
        </p:nvSpPr>
        <p:spPr>
          <a:xfrm>
            <a:off x="4046220" y="3581400"/>
            <a:ext cx="411480" cy="0"/>
          </a:xfrm>
          <a:prstGeom prst="line">
            <a:avLst/>
          </a:prstGeom>
          <a:noFill/>
          <a:ln w="19050">
            <a:solidFill>
              <a:srgbClr val="34D399"/>
            </a:solidFill>
            <a:prstDash val="solid"/>
            <a:tailEnd type="arrow"/>
          </a:ln>
        </p:spPr>
      </p:sp>
      <p:sp>
        <p:nvSpPr>
          <p:cNvPr id="9" name="Shape 7"/>
          <p:cNvSpPr/>
          <p:nvPr/>
        </p:nvSpPr>
        <p:spPr>
          <a:xfrm>
            <a:off x="7726680" y="3581400"/>
            <a:ext cx="411480" cy="0"/>
          </a:xfrm>
          <a:prstGeom prst="line">
            <a:avLst/>
          </a:prstGeom>
          <a:noFill/>
          <a:ln w="19050">
            <a:solidFill>
              <a:srgbClr val="34D399"/>
            </a:solidFill>
            <a:prstDash val="solid"/>
            <a:tailEnd type="arrow"/>
          </a:ln>
        </p:spPr>
      </p:sp>
      <p:sp>
        <p:nvSpPr>
          <p:cNvPr id="10" name="Shape 8"/>
          <p:cNvSpPr/>
          <p:nvPr/>
        </p:nvSpPr>
        <p:spPr>
          <a:xfrm>
            <a:off x="9772650" y="4495800"/>
            <a:ext cx="0" cy="304800"/>
          </a:xfrm>
          <a:prstGeom prst="line">
            <a:avLst/>
          </a:prstGeom>
          <a:noFill/>
          <a:ln w="15240">
            <a:solidFill>
              <a:srgbClr val="10B981"/>
            </a:solidFill>
            <a:prstDash val="dash"/>
          </a:ln>
        </p:spPr>
      </p:sp>
      <p:sp>
        <p:nvSpPr>
          <p:cNvPr id="11" name="Shape 9"/>
          <p:cNvSpPr/>
          <p:nvPr/>
        </p:nvSpPr>
        <p:spPr>
          <a:xfrm>
            <a:off x="2411730" y="4800600"/>
            <a:ext cx="7360920" cy="0"/>
          </a:xfrm>
          <a:prstGeom prst="line">
            <a:avLst/>
          </a:prstGeom>
          <a:noFill/>
          <a:ln w="15240">
            <a:solidFill>
              <a:srgbClr val="10B981"/>
            </a:solidFill>
            <a:prstDash val="dash"/>
          </a:ln>
        </p:spPr>
      </p:sp>
      <p:sp>
        <p:nvSpPr>
          <p:cNvPr id="12" name="Shape 10"/>
          <p:cNvSpPr/>
          <p:nvPr/>
        </p:nvSpPr>
        <p:spPr>
          <a:xfrm flipV="1">
            <a:off x="2411730" y="4526280"/>
            <a:ext cx="0" cy="274320"/>
          </a:xfrm>
          <a:prstGeom prst="line">
            <a:avLst/>
          </a:prstGeom>
          <a:noFill/>
          <a:ln w="15240">
            <a:solidFill>
              <a:srgbClr val="10B981"/>
            </a:solidFill>
            <a:prstDash val="dash"/>
            <a:tailEnd type="arrow"/>
          </a:ln>
        </p:spPr>
      </p:sp>
      <p:sp>
        <p:nvSpPr>
          <p:cNvPr id="13" name="Text 11"/>
          <p:cNvSpPr/>
          <p:nvPr/>
        </p:nvSpPr>
        <p:spPr>
          <a:xfrm>
            <a:off x="838200" y="4983480"/>
            <a:ext cx="6858000" cy="228600"/>
          </a:xfrm>
          <a:prstGeom prst="rect">
            <a:avLst/>
          </a:prstGeom>
          <a:noFill/>
          <a:ln/>
        </p:spPr>
        <p:txBody>
          <a:bodyPr wrap="square" lIns="0" tIns="0" rIns="0" bIns="0" rtlCol="0" anchor="t"/>
          <a:lstStyle/>
          <a:p>
            <a:pPr indent="0" marL="0">
              <a:buNone/>
            </a:pPr>
            <a:r>
              <a:rPr lang="en-US" sz="1150" dirty="0">
                <a:solidFill>
                  <a:srgbClr val="A1A1AA"/>
                </a:solidFill>
                <a:latin typeface="Inter" pitchFamily="34" charset="0"/>
                <a:ea typeface="Inter" pitchFamily="34" charset="-122"/>
                <a:cs typeface="Inter" pitchFamily="34" charset="-120"/>
              </a:rPr>
              <a:t>Only possible once stablecoins really scale.</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838200" y="2286000"/>
            <a:ext cx="10515600" cy="198120"/>
          </a:xfrm>
          <a:prstGeom prst="rect">
            <a:avLst/>
          </a:prstGeom>
          <a:noFill/>
          <a:ln/>
        </p:spPr>
        <p:txBody>
          <a:bodyPr wrap="square" lIns="0" tIns="0" rIns="0" bIns="0" rtlCol="0" anchor="t"/>
          <a:lstStyle/>
          <a:p>
            <a:pPr indent="0" marL="0">
              <a:buNone/>
            </a:pPr>
            <a:r>
              <a:rPr lang="en-US" sz="1020" b="1" spc="340" kern="0" dirty="0">
                <a:solidFill>
                  <a:srgbClr val="34D399"/>
                </a:solidFill>
                <a:latin typeface="Inter" pitchFamily="34" charset="0"/>
                <a:ea typeface="Inter" pitchFamily="34" charset="-122"/>
                <a:cs typeface="Inter" pitchFamily="34" charset="-120"/>
              </a:rPr>
              <a:t>DRAFT</a:t>
            </a:r>
            <a:endParaRPr lang="en-US" sz="1020" dirty="0"/>
          </a:p>
        </p:txBody>
      </p:sp>
      <p:sp>
        <p:nvSpPr>
          <p:cNvPr id="3" name="Text 1"/>
          <p:cNvSpPr/>
          <p:nvPr/>
        </p:nvSpPr>
        <p:spPr>
          <a:xfrm>
            <a:off x="838200" y="2590800"/>
            <a:ext cx="10515600" cy="533400"/>
          </a:xfrm>
          <a:prstGeom prst="rect">
            <a:avLst/>
          </a:prstGeom>
          <a:noFill/>
          <a:ln/>
        </p:spPr>
        <p:txBody>
          <a:bodyPr wrap="square" lIns="0" tIns="0" rIns="0" bIns="0" rtlCol="0" anchor="t"/>
          <a:lstStyle/>
          <a:p>
            <a:pPr indent="0" marL="0">
              <a:buNone/>
            </a:pPr>
            <a:r>
              <a:rPr lang="en-US" sz="3000" b="1" spc="-50" kern="0" dirty="0">
                <a:solidFill>
                  <a:srgbClr val="FFFFFF"/>
                </a:solidFill>
                <a:latin typeface="Inter" pitchFamily="34" charset="0"/>
                <a:ea typeface="Inter" pitchFamily="34" charset="-122"/>
                <a:cs typeface="Inter" pitchFamily="34" charset="-120"/>
              </a:rPr>
              <a:t>This explainer is a starter draft for you to rework.</a:t>
            </a:r>
            <a:endParaRPr lang="en-US" sz="3000" dirty="0"/>
          </a:p>
        </p:txBody>
      </p:sp>
      <p:sp>
        <p:nvSpPr>
          <p:cNvPr id="4" name="Text 2"/>
          <p:cNvSpPr/>
          <p:nvPr/>
        </p:nvSpPr>
        <p:spPr>
          <a:xfrm>
            <a:off x="838200" y="3200400"/>
            <a:ext cx="8382000" cy="762000"/>
          </a:xfrm>
          <a:prstGeom prst="rect">
            <a:avLst/>
          </a:prstGeom>
          <a:noFill/>
          <a:ln/>
        </p:spPr>
        <p:txBody>
          <a:bodyPr wrap="square" lIns="0" tIns="0" rIns="0" bIns="0" rtlCol="0" anchor="t"/>
          <a:lstStyle/>
          <a:p>
            <a:pPr indent="0" marL="0">
              <a:lnSpc>
                <a:spcPct val="130000"/>
              </a:lnSpc>
              <a:buNone/>
            </a:pPr>
            <a:r>
              <a:rPr lang="en-US" sz="1500" dirty="0">
                <a:solidFill>
                  <a:srgbClr val="A1A1AA"/>
                </a:solidFill>
                <a:latin typeface="Inter" pitchFamily="34" charset="0"/>
                <a:ea typeface="Inter" pitchFamily="34" charset="-122"/>
                <a:cs typeface="Inter" pitchFamily="34" charset="-120"/>
              </a:rPr>
              <a:t>All wording comes from copy.md (v2, sober register). Boxes, arrows and text are native and editable; rearrange, cut or rewrite them as you see fit. Delete this slide before publishing.</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Inter"/>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Slides>
  <Notes>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vt:i4>
      </vt:variant>
    </vt:vector>
  </HeadingPairs>
  <TitlesOfParts>
    <vt:vector size="6" baseType="lpstr">
      <vt:lpstr>Arial</vt:lpstr>
      <vt:lpstr>Calibri</vt:lpstr>
      <vt:lpstr>Office Theme</vt:lpstr>
      <vt:lpstr>Slide 1</vt:lpstr>
      <vt:lpstr>Slide 2</vt:lpstr>
      <vt:lpstr>Slide 3</vt:lpstr>
    </vt:vector>
  </TitlesOfParts>
  <Company>Argonaut Agentic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Argonaut Agentic: VeRT explainer (draft)</dc:title>
  <dc:subject>PptxGenJS Presentation</dc:subject>
  <dc:creator>Ashit Milne</dc:creator>
  <cp:lastModifiedBy>Ashit Milne</cp:lastModifiedBy>
  <cp:revision>1</cp:revision>
  <dcterms:created xsi:type="dcterms:W3CDTF">2026-10-11T21:50:32Z</dcterms:created>
  <dcterms:modified xsi:type="dcterms:W3CDTF">2026-10-11T21:50:32Z</dcterms:modified>
</cp:coreProperties>
</file>